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75" y="1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752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B0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017"/>
          </a:solidFill>
          <a:ln/>
        </p:spPr>
        <p:txBody>
          <a:bodyPr/>
          <a:lstStyle/>
          <a:p>
            <a:endParaRPr lang="en-GB"/>
          </a:p>
        </p:txBody>
      </p:sp>
      <p:pic>
        <p:nvPicPr>
          <p:cNvPr id="3" name="Image 0" descr="preencoded.png"/>
          <p:cNvPicPr>
            <a:picLocks noChangeAspect="1"/>
          </p:cNvPicPr>
          <p:nvPr/>
        </p:nvPicPr>
        <p:blipFill>
          <a:blip r:embed="rId3"/>
          <a:stretch>
            <a:fillRect/>
          </a:stretch>
        </p:blipFill>
        <p:spPr>
          <a:xfrm>
            <a:off x="3794760" y="457200"/>
            <a:ext cx="1554480" cy="1554480"/>
          </a:xfrm>
          <a:prstGeom prst="ellipse">
            <a:avLst/>
          </a:prstGeom>
        </p:spPr>
      </p:pic>
      <p:sp>
        <p:nvSpPr>
          <p:cNvPr id="4" name="Text 1"/>
          <p:cNvSpPr/>
          <p:nvPr/>
        </p:nvSpPr>
        <p:spPr>
          <a:xfrm>
            <a:off x="457200" y="2194560"/>
            <a:ext cx="8229600" cy="822960"/>
          </a:xfrm>
          <a:prstGeom prst="rect">
            <a:avLst/>
          </a:prstGeom>
          <a:noFill/>
          <a:ln/>
        </p:spPr>
        <p:txBody>
          <a:bodyPr wrap="square" rtlCol="0" anchor="ctr"/>
          <a:lstStyle/>
          <a:p>
            <a:pPr marL="0" indent="0" algn="ctr">
              <a:buNone/>
            </a:pPr>
            <a:r>
              <a:rPr lang="en-US" sz="6000" kern="0" spc="800" dirty="0">
                <a:solidFill>
                  <a:srgbClr val="D4A017"/>
                </a:solidFill>
                <a:latin typeface="Impact" pitchFamily="34" charset="0"/>
                <a:ea typeface="Impact" pitchFamily="34" charset="-122"/>
                <a:cs typeface="Impact" pitchFamily="34" charset="-120"/>
              </a:rPr>
              <a:t>SETTLEUP</a:t>
            </a:r>
            <a:endParaRPr lang="en-US" sz="6000" dirty="0"/>
          </a:p>
        </p:txBody>
      </p:sp>
      <p:sp>
        <p:nvSpPr>
          <p:cNvPr id="5" name="Text 2"/>
          <p:cNvSpPr/>
          <p:nvPr/>
        </p:nvSpPr>
        <p:spPr>
          <a:xfrm>
            <a:off x="1371600" y="3017520"/>
            <a:ext cx="6400800" cy="457200"/>
          </a:xfrm>
          <a:prstGeom prst="rect">
            <a:avLst/>
          </a:prstGeom>
          <a:noFill/>
          <a:ln/>
        </p:spPr>
        <p:txBody>
          <a:bodyPr wrap="square" rtlCol="0" anchor="ctr"/>
          <a:lstStyle/>
          <a:p>
            <a:pPr marL="0" indent="0" algn="ctr">
              <a:buNone/>
            </a:pPr>
            <a:r>
              <a:rPr lang="en-US" sz="1800" i="1" dirty="0">
                <a:solidFill>
                  <a:srgbClr val="F5E6C8"/>
                </a:solidFill>
                <a:latin typeface="Georgia" pitchFamily="34" charset="0"/>
                <a:ea typeface="Georgia" pitchFamily="34" charset="-122"/>
                <a:cs typeface="Georgia" pitchFamily="34" charset="-120"/>
              </a:rPr>
              <a:t>Bet your mates drinks. The app keeps score.</a:t>
            </a:r>
            <a:endParaRPr lang="en-US" sz="1800" dirty="0"/>
          </a:p>
        </p:txBody>
      </p:sp>
      <p:sp>
        <p:nvSpPr>
          <p:cNvPr id="6" name="Text 3"/>
          <p:cNvSpPr/>
          <p:nvPr/>
        </p:nvSpPr>
        <p:spPr>
          <a:xfrm>
            <a:off x="1371600" y="3566160"/>
            <a:ext cx="6400800" cy="365760"/>
          </a:xfrm>
          <a:prstGeom prst="rect">
            <a:avLst/>
          </a:prstGeom>
          <a:noFill/>
          <a:ln/>
        </p:spPr>
        <p:txBody>
          <a:bodyPr wrap="square" rtlCol="0" anchor="ctr"/>
          <a:lstStyle/>
          <a:p>
            <a:pPr marL="0" indent="0" algn="ctr">
              <a:buNone/>
            </a:pPr>
            <a:r>
              <a:rPr lang="en-US" sz="1300" i="1" dirty="0">
                <a:solidFill>
                  <a:srgbClr val="9B8E7A"/>
                </a:solidFill>
                <a:latin typeface="Georgia" pitchFamily="34" charset="0"/>
                <a:ea typeface="Georgia" pitchFamily="34" charset="-122"/>
                <a:cs typeface="Georgia" pitchFamily="34" charset="-120"/>
              </a:rPr>
              <a:t>Built in a weekend. Tested at a pub. Finished at sunrise.</a:t>
            </a:r>
            <a:endParaRPr lang="en-US" sz="1300" dirty="0"/>
          </a:p>
        </p:txBody>
      </p:sp>
      <p:sp>
        <p:nvSpPr>
          <p:cNvPr id="7" name="Text 4"/>
          <p:cNvSpPr/>
          <p:nvPr/>
        </p:nvSpPr>
        <p:spPr>
          <a:xfrm>
            <a:off x="914400" y="4297680"/>
            <a:ext cx="7315200" cy="365760"/>
          </a:xfrm>
          <a:prstGeom prst="rect">
            <a:avLst/>
          </a:prstGeom>
          <a:noFill/>
          <a:ln/>
        </p:spPr>
        <p:txBody>
          <a:bodyPr wrap="square" rtlCol="0" anchor="ctr"/>
          <a:lstStyle/>
          <a:p>
            <a:pPr marL="0" indent="0" algn="ctr">
              <a:buNone/>
            </a:pPr>
            <a:r>
              <a:rPr lang="en-US" sz="1400" b="1" dirty="0">
                <a:solidFill>
                  <a:srgbClr val="F5E6C8"/>
                </a:solidFill>
                <a:latin typeface="Arial" pitchFamily="34" charset="0"/>
                <a:ea typeface="Arial" pitchFamily="34" charset="-122"/>
                <a:cs typeface="Arial" pitchFamily="34" charset="-120"/>
              </a:rPr>
              <a:t>Hayden Tibbals</a:t>
            </a:r>
            <a:r>
              <a:rPr lang="en-US" sz="1400" dirty="0">
                <a:solidFill>
                  <a:srgbClr val="9B8E7A"/>
                </a:solidFill>
                <a:latin typeface="Arial" pitchFamily="34" charset="0"/>
                <a:ea typeface="Arial" pitchFamily="34" charset="-122"/>
                <a:cs typeface="Arial" pitchFamily="34" charset="-120"/>
              </a:rPr>
              <a:t>   ×   </a:t>
            </a:r>
            <a:r>
              <a:rPr lang="en-US" sz="1400" b="1" dirty="0">
                <a:solidFill>
                  <a:srgbClr val="F5E6C8"/>
                </a:solidFill>
                <a:latin typeface="Arial" pitchFamily="34" charset="0"/>
                <a:ea typeface="Arial" pitchFamily="34" charset="-122"/>
                <a:cs typeface="Arial" pitchFamily="34" charset="-120"/>
              </a:rPr>
              <a:t>Charles Keenen</a:t>
            </a:r>
            <a:endParaRPr lang="en-US" sz="1400" dirty="0"/>
          </a:p>
        </p:txBody>
      </p:sp>
      <p:sp>
        <p:nvSpPr>
          <p:cNvPr id="8" name="Shape 5"/>
          <p:cNvSpPr/>
          <p:nvPr/>
        </p:nvSpPr>
        <p:spPr>
          <a:xfrm>
            <a:off x="0" y="5106924"/>
            <a:ext cx="9144000" cy="36576"/>
          </a:xfrm>
          <a:prstGeom prst="rect">
            <a:avLst/>
          </a:prstGeom>
          <a:solidFill>
            <a:srgbClr val="D4A017"/>
          </a:solidFill>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548640" y="640080"/>
            <a:ext cx="8046720" cy="640080"/>
          </a:xfrm>
          <a:prstGeom prst="rect">
            <a:avLst/>
          </a:prstGeom>
          <a:noFill/>
          <a:ln/>
        </p:spPr>
        <p:txBody>
          <a:bodyPr wrap="square" rtlCol="0" anchor="ctr"/>
          <a:lstStyle/>
          <a:p>
            <a:pPr marL="0" indent="0">
              <a:buNone/>
            </a:pPr>
            <a:r>
              <a:rPr lang="en-US" sz="3000" i="1" dirty="0">
                <a:solidFill>
                  <a:srgbClr val="F5E6C8"/>
                </a:solidFill>
                <a:latin typeface="Georgia" pitchFamily="34" charset="0"/>
                <a:ea typeface="Georgia" pitchFamily="34" charset="-122"/>
                <a:cs typeface="Georgia" pitchFamily="34" charset="-120"/>
              </a:rPr>
              <a:t>Everyone says "bet you a beer." Nobody ever pays.</a:t>
            </a:r>
            <a:endParaRPr lang="en-US" sz="3000" dirty="0"/>
          </a:p>
        </p:txBody>
      </p:sp>
      <p:sp>
        <p:nvSpPr>
          <p:cNvPr id="4" name="Shape 2"/>
          <p:cNvSpPr/>
          <p:nvPr/>
        </p:nvSpPr>
        <p:spPr>
          <a:xfrm>
            <a:off x="548640" y="1554480"/>
            <a:ext cx="2606040" cy="237744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5" name="Shape 3"/>
          <p:cNvSpPr/>
          <p:nvPr/>
        </p:nvSpPr>
        <p:spPr>
          <a:xfrm>
            <a:off x="548640" y="1554480"/>
            <a:ext cx="2606040" cy="54864"/>
          </a:xfrm>
          <a:prstGeom prst="rect">
            <a:avLst/>
          </a:prstGeom>
          <a:solidFill>
            <a:srgbClr val="C45C5C"/>
          </a:solidFill>
          <a:ln/>
        </p:spPr>
        <p:txBody>
          <a:bodyPr/>
          <a:lstStyle/>
          <a:p>
            <a:endParaRPr lang="en-GB"/>
          </a:p>
        </p:txBody>
      </p:sp>
      <p:sp>
        <p:nvSpPr>
          <p:cNvPr id="6" name="Text 4"/>
          <p:cNvSpPr/>
          <p:nvPr/>
        </p:nvSpPr>
        <p:spPr>
          <a:xfrm>
            <a:off x="731520" y="1783080"/>
            <a:ext cx="2240280" cy="731520"/>
          </a:xfrm>
          <a:prstGeom prst="rect">
            <a:avLst/>
          </a:prstGeom>
          <a:noFill/>
          <a:ln/>
        </p:spPr>
        <p:txBody>
          <a:bodyPr wrap="square" lIns="0" tIns="0" rIns="0" bIns="0" rtlCol="0" anchor="ctr"/>
          <a:lstStyle/>
          <a:p>
            <a:pPr marL="0" indent="0">
              <a:buNone/>
            </a:pPr>
            <a:r>
              <a:rPr lang="en-US" sz="1700" b="1" i="1" dirty="0">
                <a:solidFill>
                  <a:srgbClr val="F5E6C8"/>
                </a:solidFill>
                <a:latin typeface="Georgia" pitchFamily="34" charset="0"/>
                <a:ea typeface="Georgia" pitchFamily="34" charset="-122"/>
                <a:cs typeface="Georgia" pitchFamily="34" charset="-120"/>
              </a:rPr>
              <a:t>"Bet you a beer"</a:t>
            </a:r>
            <a:endParaRPr lang="en-US" sz="1700" dirty="0"/>
          </a:p>
        </p:txBody>
      </p:sp>
      <p:sp>
        <p:nvSpPr>
          <p:cNvPr id="7" name="Text 5"/>
          <p:cNvSpPr/>
          <p:nvPr/>
        </p:nvSpPr>
        <p:spPr>
          <a:xfrm>
            <a:off x="731520" y="2606040"/>
            <a:ext cx="2240280" cy="822960"/>
          </a:xfrm>
          <a:prstGeom prst="rect">
            <a:avLst/>
          </a:prstGeom>
          <a:noFill/>
          <a:ln/>
        </p:spPr>
        <p:txBody>
          <a:bodyPr wrap="square" lIns="0" tIns="0" rIns="0" bIns="0" rtlCol="0" anchor="ctr"/>
          <a:lstStyle/>
          <a:p>
            <a:pPr marL="0" indent="0">
              <a:buNone/>
            </a:pPr>
            <a:r>
              <a:rPr lang="en-US" sz="1300" dirty="0">
                <a:solidFill>
                  <a:srgbClr val="9B8E7A"/>
                </a:solidFill>
                <a:latin typeface="Arial" pitchFamily="34" charset="0"/>
                <a:ea typeface="Arial" pitchFamily="34" charset="-122"/>
                <a:cs typeface="Arial" pitchFamily="34" charset="-120"/>
              </a:rPr>
              <a:t>Said 47 times.</a:t>
            </a:r>
            <a:endParaRPr lang="en-US" sz="1300" dirty="0"/>
          </a:p>
          <a:p>
            <a:pPr marL="0" indent="0">
              <a:buNone/>
            </a:pPr>
            <a:r>
              <a:rPr lang="en-US" sz="1300" dirty="0">
                <a:solidFill>
                  <a:srgbClr val="9B8E7A"/>
                </a:solidFill>
                <a:latin typeface="Arial" pitchFamily="34" charset="0"/>
                <a:ea typeface="Arial" pitchFamily="34" charset="-122"/>
                <a:cs typeface="Arial" pitchFamily="34" charset="-120"/>
              </a:rPr>
              <a:t>Settled 0 times.</a:t>
            </a:r>
            <a:endParaRPr lang="en-US" sz="1300" dirty="0"/>
          </a:p>
        </p:txBody>
      </p:sp>
      <p:sp>
        <p:nvSpPr>
          <p:cNvPr id="8" name="Shape 6"/>
          <p:cNvSpPr/>
          <p:nvPr/>
        </p:nvSpPr>
        <p:spPr>
          <a:xfrm>
            <a:off x="3337560" y="1554480"/>
            <a:ext cx="2606040" cy="237744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9" name="Shape 7"/>
          <p:cNvSpPr/>
          <p:nvPr/>
        </p:nvSpPr>
        <p:spPr>
          <a:xfrm>
            <a:off x="3337560" y="1554480"/>
            <a:ext cx="2606040" cy="54864"/>
          </a:xfrm>
          <a:prstGeom prst="rect">
            <a:avLst/>
          </a:prstGeom>
          <a:solidFill>
            <a:srgbClr val="C45C5C"/>
          </a:solidFill>
          <a:ln/>
        </p:spPr>
        <p:txBody>
          <a:bodyPr/>
          <a:lstStyle/>
          <a:p>
            <a:endParaRPr lang="en-GB"/>
          </a:p>
        </p:txBody>
      </p:sp>
      <p:sp>
        <p:nvSpPr>
          <p:cNvPr id="10" name="Text 8"/>
          <p:cNvSpPr/>
          <p:nvPr/>
        </p:nvSpPr>
        <p:spPr>
          <a:xfrm>
            <a:off x="3520440" y="1783080"/>
            <a:ext cx="2240280" cy="731520"/>
          </a:xfrm>
          <a:prstGeom prst="rect">
            <a:avLst/>
          </a:prstGeom>
          <a:noFill/>
          <a:ln/>
        </p:spPr>
        <p:txBody>
          <a:bodyPr wrap="square" lIns="0" tIns="0" rIns="0" bIns="0" rtlCol="0" anchor="ctr"/>
          <a:lstStyle/>
          <a:p>
            <a:pPr marL="0" indent="0">
              <a:buNone/>
            </a:pPr>
            <a:r>
              <a:rPr lang="en-US" sz="1700" b="1" i="1" dirty="0">
                <a:solidFill>
                  <a:srgbClr val="F5E6C8"/>
                </a:solidFill>
                <a:latin typeface="Georgia" pitchFamily="34" charset="0"/>
                <a:ea typeface="Georgia" pitchFamily="34" charset="-122"/>
                <a:cs typeface="Georgia" pitchFamily="34" charset="-120"/>
              </a:rPr>
              <a:t>"I'll get the next one"</a:t>
            </a:r>
            <a:endParaRPr lang="en-US" sz="1700" dirty="0"/>
          </a:p>
        </p:txBody>
      </p:sp>
      <p:sp>
        <p:nvSpPr>
          <p:cNvPr id="11" name="Text 9"/>
          <p:cNvSpPr/>
          <p:nvPr/>
        </p:nvSpPr>
        <p:spPr>
          <a:xfrm>
            <a:off x="3520440" y="2606040"/>
            <a:ext cx="2240280" cy="822960"/>
          </a:xfrm>
          <a:prstGeom prst="rect">
            <a:avLst/>
          </a:prstGeom>
          <a:noFill/>
          <a:ln/>
        </p:spPr>
        <p:txBody>
          <a:bodyPr wrap="square" lIns="0" tIns="0" rIns="0" bIns="0" rtlCol="0" anchor="ctr"/>
          <a:lstStyle/>
          <a:p>
            <a:pPr marL="0" indent="0">
              <a:buNone/>
            </a:pPr>
            <a:r>
              <a:rPr lang="en-US" sz="1300" dirty="0">
                <a:solidFill>
                  <a:srgbClr val="9B8E7A"/>
                </a:solidFill>
                <a:latin typeface="Arial" pitchFamily="34" charset="0"/>
                <a:ea typeface="Arial" pitchFamily="34" charset="-122"/>
                <a:cs typeface="Arial" pitchFamily="34" charset="-120"/>
              </a:rPr>
              <a:t>The next one</a:t>
            </a:r>
            <a:endParaRPr lang="en-US" sz="1300" dirty="0"/>
          </a:p>
          <a:p>
            <a:pPr marL="0" indent="0">
              <a:buNone/>
            </a:pPr>
            <a:r>
              <a:rPr lang="en-US" sz="1300" dirty="0">
                <a:solidFill>
                  <a:srgbClr val="9B8E7A"/>
                </a:solidFill>
                <a:latin typeface="Arial" pitchFamily="34" charset="0"/>
                <a:ea typeface="Arial" pitchFamily="34" charset="-122"/>
                <a:cs typeface="Arial" pitchFamily="34" charset="-120"/>
              </a:rPr>
              <a:t>never comes.</a:t>
            </a:r>
            <a:endParaRPr lang="en-US" sz="1300" dirty="0"/>
          </a:p>
        </p:txBody>
      </p:sp>
      <p:sp>
        <p:nvSpPr>
          <p:cNvPr id="12" name="Shape 10"/>
          <p:cNvSpPr/>
          <p:nvPr/>
        </p:nvSpPr>
        <p:spPr>
          <a:xfrm>
            <a:off x="6126480" y="1554480"/>
            <a:ext cx="2606040" cy="237744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3" name="Shape 11"/>
          <p:cNvSpPr/>
          <p:nvPr/>
        </p:nvSpPr>
        <p:spPr>
          <a:xfrm>
            <a:off x="6126480" y="1554480"/>
            <a:ext cx="2606040" cy="54864"/>
          </a:xfrm>
          <a:prstGeom prst="rect">
            <a:avLst/>
          </a:prstGeom>
          <a:solidFill>
            <a:srgbClr val="C45C5C"/>
          </a:solidFill>
          <a:ln/>
        </p:spPr>
        <p:txBody>
          <a:bodyPr/>
          <a:lstStyle/>
          <a:p>
            <a:endParaRPr lang="en-GB"/>
          </a:p>
        </p:txBody>
      </p:sp>
      <p:sp>
        <p:nvSpPr>
          <p:cNvPr id="14" name="Text 12"/>
          <p:cNvSpPr/>
          <p:nvPr/>
        </p:nvSpPr>
        <p:spPr>
          <a:xfrm>
            <a:off x="6309360" y="1783080"/>
            <a:ext cx="2240280" cy="731520"/>
          </a:xfrm>
          <a:prstGeom prst="rect">
            <a:avLst/>
          </a:prstGeom>
          <a:noFill/>
          <a:ln/>
        </p:spPr>
        <p:txBody>
          <a:bodyPr wrap="square" lIns="0" tIns="0" rIns="0" bIns="0" rtlCol="0" anchor="ctr"/>
          <a:lstStyle/>
          <a:p>
            <a:pPr marL="0" indent="0">
              <a:buNone/>
            </a:pPr>
            <a:r>
              <a:rPr lang="en-US" sz="1700" b="1" i="1" dirty="0">
                <a:solidFill>
                  <a:srgbClr val="F5E6C8"/>
                </a:solidFill>
                <a:latin typeface="Georgia" pitchFamily="34" charset="0"/>
                <a:ea typeface="Georgia" pitchFamily="34" charset="-122"/>
                <a:cs typeface="Georgia" pitchFamily="34" charset="-120"/>
              </a:rPr>
              <a:t>"Who won that bet?"</a:t>
            </a:r>
            <a:endParaRPr lang="en-US" sz="1700" dirty="0"/>
          </a:p>
        </p:txBody>
      </p:sp>
      <p:sp>
        <p:nvSpPr>
          <p:cNvPr id="15" name="Text 13"/>
          <p:cNvSpPr/>
          <p:nvPr/>
        </p:nvSpPr>
        <p:spPr>
          <a:xfrm>
            <a:off x="6309360" y="2606040"/>
            <a:ext cx="2240280" cy="822960"/>
          </a:xfrm>
          <a:prstGeom prst="rect">
            <a:avLst/>
          </a:prstGeom>
          <a:noFill/>
          <a:ln/>
        </p:spPr>
        <p:txBody>
          <a:bodyPr wrap="square" lIns="0" tIns="0" rIns="0" bIns="0" rtlCol="0" anchor="ctr"/>
          <a:lstStyle/>
          <a:p>
            <a:pPr marL="0" indent="0">
              <a:buNone/>
            </a:pPr>
            <a:r>
              <a:rPr lang="en-US" sz="1300" dirty="0">
                <a:solidFill>
                  <a:srgbClr val="9B8E7A"/>
                </a:solidFill>
                <a:latin typeface="Arial" pitchFamily="34" charset="0"/>
                <a:ea typeface="Arial" pitchFamily="34" charset="-122"/>
                <a:cs typeface="Arial" pitchFamily="34" charset="-120"/>
              </a:rPr>
              <a:t>Nobody remembers.</a:t>
            </a:r>
            <a:endParaRPr lang="en-US" sz="1300" dirty="0"/>
          </a:p>
          <a:p>
            <a:pPr marL="0" indent="0">
              <a:buNone/>
            </a:pPr>
            <a:r>
              <a:rPr lang="en-US" sz="1300" dirty="0">
                <a:solidFill>
                  <a:srgbClr val="9B8E7A"/>
                </a:solidFill>
                <a:latin typeface="Arial" pitchFamily="34" charset="0"/>
                <a:ea typeface="Arial" pitchFamily="34" charset="-122"/>
                <a:cs typeface="Arial" pitchFamily="34" charset="-120"/>
              </a:rPr>
              <a:t>Nobody pays.</a:t>
            </a:r>
            <a:endParaRPr lang="en-US" sz="1300" dirty="0"/>
          </a:p>
        </p:txBody>
      </p:sp>
      <p:sp>
        <p:nvSpPr>
          <p:cNvPr id="16" name="Text 14"/>
          <p:cNvSpPr/>
          <p:nvPr/>
        </p:nvSpPr>
        <p:spPr>
          <a:xfrm>
            <a:off x="548640" y="4297680"/>
            <a:ext cx="8046720" cy="365760"/>
          </a:xfrm>
          <a:prstGeom prst="rect">
            <a:avLst/>
          </a:prstGeom>
          <a:noFill/>
          <a:ln/>
        </p:spPr>
        <p:txBody>
          <a:bodyPr wrap="square" rtlCol="0" anchor="ctr"/>
          <a:lstStyle/>
          <a:p>
            <a:pPr marL="0" indent="0">
              <a:buNone/>
            </a:pPr>
            <a:r>
              <a:rPr lang="en-US" sz="1200" i="1" dirty="0">
                <a:solidFill>
                  <a:srgbClr val="9B8E7A"/>
                </a:solidFill>
                <a:latin typeface="Georgia" pitchFamily="34" charset="0"/>
                <a:ea typeface="Georgia" pitchFamily="34" charset="-122"/>
                <a:cs typeface="Georgia" pitchFamily="34" charset="-120"/>
              </a:rPr>
              <a:t>You probably owe someone a drink right 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WHAT WE BUILT</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SettleUp is a night-out app for groups of mates who can't stop competing.</a:t>
            </a:r>
            <a:endParaRPr lang="en-US" sz="2400" dirty="0"/>
          </a:p>
        </p:txBody>
      </p:sp>
      <p:sp>
        <p:nvSpPr>
          <p:cNvPr id="4" name="Shape 2"/>
          <p:cNvSpPr/>
          <p:nvPr/>
        </p:nvSpPr>
        <p:spPr>
          <a:xfrm>
            <a:off x="548640" y="1417320"/>
            <a:ext cx="3931920" cy="13258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5" name="Shape 3"/>
          <p:cNvSpPr/>
          <p:nvPr/>
        </p:nvSpPr>
        <p:spPr>
          <a:xfrm>
            <a:off x="548640" y="1417320"/>
            <a:ext cx="54864" cy="1325880"/>
          </a:xfrm>
          <a:prstGeom prst="rect">
            <a:avLst/>
          </a:prstGeom>
          <a:solidFill>
            <a:srgbClr val="D4A017"/>
          </a:solidFill>
          <a:ln/>
        </p:spPr>
        <p:txBody>
          <a:bodyPr/>
          <a:lstStyle/>
          <a:p>
            <a:endParaRPr lang="en-GB"/>
          </a:p>
        </p:txBody>
      </p:sp>
      <p:sp>
        <p:nvSpPr>
          <p:cNvPr id="6" name="Text 4"/>
          <p:cNvSpPr/>
          <p:nvPr/>
        </p:nvSpPr>
        <p:spPr>
          <a:xfrm>
            <a:off x="731520" y="1508760"/>
            <a:ext cx="3566160" cy="274320"/>
          </a:xfrm>
          <a:prstGeom prst="rect">
            <a:avLst/>
          </a:prstGeom>
          <a:noFill/>
          <a:ln/>
        </p:spPr>
        <p:txBody>
          <a:bodyPr wrap="square" lIns="0" tIns="0" rIns="0" bIns="0" rtlCol="0" anchor="ctr"/>
          <a:lstStyle/>
          <a:p>
            <a:pPr marL="0" indent="0">
              <a:buNone/>
            </a:pPr>
            <a:r>
              <a:rPr lang="en-US" sz="1400" b="1" dirty="0">
                <a:solidFill>
                  <a:srgbClr val="D4A017"/>
                </a:solidFill>
                <a:latin typeface="Arial" pitchFamily="34" charset="0"/>
                <a:ea typeface="Arial" pitchFamily="34" charset="-122"/>
                <a:cs typeface="Arial" pitchFamily="34" charset="-120"/>
              </a:rPr>
              <a:t>Bet anything</a:t>
            </a:r>
            <a:endParaRPr lang="en-US" sz="1400" dirty="0"/>
          </a:p>
        </p:txBody>
      </p:sp>
      <p:sp>
        <p:nvSpPr>
          <p:cNvPr id="7" name="Text 5"/>
          <p:cNvSpPr/>
          <p:nvPr/>
        </p:nvSpPr>
        <p:spPr>
          <a:xfrm>
            <a:off x="731520" y="1828800"/>
            <a:ext cx="3566160" cy="822960"/>
          </a:xfrm>
          <a:prstGeom prst="rect">
            <a:avLst/>
          </a:prstGeom>
          <a:noFill/>
          <a:ln/>
        </p:spPr>
        <p:txBody>
          <a:bodyPr wrap="square" lIns="0" tIns="0" rIns="0" bIns="0" rtlCol="0" anchor="ctr"/>
          <a:lstStyle/>
          <a:p>
            <a:pPr marL="0" indent="0">
              <a:buNone/>
            </a:pPr>
            <a:r>
              <a:rPr lang="en-US" sz="1050" dirty="0">
                <a:solidFill>
                  <a:srgbClr val="9B8E7A"/>
                </a:solidFill>
                <a:latin typeface="Arial" pitchFamily="34" charset="0"/>
                <a:ea typeface="Arial" pitchFamily="34" charset="-122"/>
                <a:cs typeface="Arial" pitchFamily="34" charset="-120"/>
              </a:rPr>
              <a:t>"Will Dave mention his ex?" Create it in a few taps. Everyone bets drinks. Winners split the lot. Pari-mutuel — like the horses, but for your mates.</a:t>
            </a:r>
            <a:endParaRPr lang="en-US" sz="1050" dirty="0"/>
          </a:p>
        </p:txBody>
      </p:sp>
      <p:sp>
        <p:nvSpPr>
          <p:cNvPr id="8" name="Shape 6"/>
          <p:cNvSpPr/>
          <p:nvPr/>
        </p:nvSpPr>
        <p:spPr>
          <a:xfrm>
            <a:off x="4754880" y="1417320"/>
            <a:ext cx="3931920" cy="13258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9" name="Shape 7"/>
          <p:cNvSpPr/>
          <p:nvPr/>
        </p:nvSpPr>
        <p:spPr>
          <a:xfrm>
            <a:off x="4754880" y="1417320"/>
            <a:ext cx="54864" cy="1325880"/>
          </a:xfrm>
          <a:prstGeom prst="rect">
            <a:avLst/>
          </a:prstGeom>
          <a:solidFill>
            <a:srgbClr val="D4A017"/>
          </a:solidFill>
          <a:ln/>
        </p:spPr>
        <p:txBody>
          <a:bodyPr/>
          <a:lstStyle/>
          <a:p>
            <a:endParaRPr lang="en-GB"/>
          </a:p>
        </p:txBody>
      </p:sp>
      <p:sp>
        <p:nvSpPr>
          <p:cNvPr id="10" name="Text 8"/>
          <p:cNvSpPr/>
          <p:nvPr/>
        </p:nvSpPr>
        <p:spPr>
          <a:xfrm>
            <a:off x="4937760" y="1508760"/>
            <a:ext cx="3566160" cy="274320"/>
          </a:xfrm>
          <a:prstGeom prst="rect">
            <a:avLst/>
          </a:prstGeom>
          <a:noFill/>
          <a:ln/>
        </p:spPr>
        <p:txBody>
          <a:bodyPr wrap="square" lIns="0" tIns="0" rIns="0" bIns="0" rtlCol="0" anchor="ctr"/>
          <a:lstStyle/>
          <a:p>
            <a:pPr marL="0" indent="0">
              <a:buNone/>
            </a:pPr>
            <a:r>
              <a:rPr lang="en-US" sz="1400" b="1" dirty="0">
                <a:solidFill>
                  <a:srgbClr val="D4A017"/>
                </a:solidFill>
                <a:latin typeface="Arial" pitchFamily="34" charset="0"/>
                <a:ea typeface="Arial" pitchFamily="34" charset="-122"/>
                <a:cs typeface="Arial" pitchFamily="34" charset="-120"/>
              </a:rPr>
              <a:t>1v1 challenges</a:t>
            </a:r>
            <a:endParaRPr lang="en-US" sz="1400" dirty="0"/>
          </a:p>
        </p:txBody>
      </p:sp>
      <p:sp>
        <p:nvSpPr>
          <p:cNvPr id="11" name="Text 9"/>
          <p:cNvSpPr/>
          <p:nvPr/>
        </p:nvSpPr>
        <p:spPr>
          <a:xfrm>
            <a:off x="4937760" y="1828800"/>
            <a:ext cx="3566160" cy="822960"/>
          </a:xfrm>
          <a:prstGeom prst="rect">
            <a:avLst/>
          </a:prstGeom>
          <a:noFill/>
          <a:ln/>
        </p:spPr>
        <p:txBody>
          <a:bodyPr wrap="square" lIns="0" tIns="0" rIns="0" bIns="0" rtlCol="0" anchor="ctr"/>
          <a:lstStyle/>
          <a:p>
            <a:pPr marL="0" indent="0">
              <a:buNone/>
            </a:pPr>
            <a:r>
              <a:rPr lang="en-US" sz="1050" dirty="0">
                <a:solidFill>
                  <a:srgbClr val="9B8E7A"/>
                </a:solidFill>
                <a:latin typeface="Arial" pitchFamily="34" charset="0"/>
                <a:ea typeface="Arial" pitchFamily="34" charset="-122"/>
                <a:cs typeface="Arial" pitchFamily="34" charset="-120"/>
              </a:rPr>
              <a:t>Challenge someone directly. Pool, darts, whatever. Both put drinks on the line, the crew piles on side bets.</a:t>
            </a:r>
            <a:endParaRPr lang="en-US" sz="1050" dirty="0"/>
          </a:p>
        </p:txBody>
      </p:sp>
      <p:sp>
        <p:nvSpPr>
          <p:cNvPr id="12" name="Shape 10"/>
          <p:cNvSpPr/>
          <p:nvPr/>
        </p:nvSpPr>
        <p:spPr>
          <a:xfrm>
            <a:off x="548640" y="2971800"/>
            <a:ext cx="3931920" cy="13258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3" name="Shape 11"/>
          <p:cNvSpPr/>
          <p:nvPr/>
        </p:nvSpPr>
        <p:spPr>
          <a:xfrm>
            <a:off x="548640" y="2971800"/>
            <a:ext cx="54864" cy="1325880"/>
          </a:xfrm>
          <a:prstGeom prst="rect">
            <a:avLst/>
          </a:prstGeom>
          <a:solidFill>
            <a:srgbClr val="D4A017"/>
          </a:solidFill>
          <a:ln/>
        </p:spPr>
        <p:txBody>
          <a:bodyPr/>
          <a:lstStyle/>
          <a:p>
            <a:endParaRPr lang="en-GB"/>
          </a:p>
        </p:txBody>
      </p:sp>
      <p:sp>
        <p:nvSpPr>
          <p:cNvPr id="14" name="Text 12"/>
          <p:cNvSpPr/>
          <p:nvPr/>
        </p:nvSpPr>
        <p:spPr>
          <a:xfrm>
            <a:off x="731520" y="3063240"/>
            <a:ext cx="3566160" cy="274320"/>
          </a:xfrm>
          <a:prstGeom prst="rect">
            <a:avLst/>
          </a:prstGeom>
          <a:noFill/>
          <a:ln/>
        </p:spPr>
        <p:txBody>
          <a:bodyPr wrap="square" lIns="0" tIns="0" rIns="0" bIns="0" rtlCol="0" anchor="ctr"/>
          <a:lstStyle/>
          <a:p>
            <a:pPr marL="0" indent="0">
              <a:buNone/>
            </a:pPr>
            <a:r>
              <a:rPr lang="en-US" sz="1400" b="1" dirty="0">
                <a:solidFill>
                  <a:srgbClr val="D4A017"/>
                </a:solidFill>
                <a:latin typeface="Arial" pitchFamily="34" charset="0"/>
                <a:ea typeface="Arial" pitchFamily="34" charset="-122"/>
                <a:cs typeface="Arial" pitchFamily="34" charset="-120"/>
              </a:rPr>
              <a:t>Beer Bomb</a:t>
            </a:r>
            <a:endParaRPr lang="en-US" sz="1400" dirty="0"/>
          </a:p>
        </p:txBody>
      </p:sp>
      <p:sp>
        <p:nvSpPr>
          <p:cNvPr id="15" name="Text 13"/>
          <p:cNvSpPr/>
          <p:nvPr/>
        </p:nvSpPr>
        <p:spPr>
          <a:xfrm>
            <a:off x="731520" y="3383280"/>
            <a:ext cx="3566160" cy="822960"/>
          </a:xfrm>
          <a:prstGeom prst="rect">
            <a:avLst/>
          </a:prstGeom>
          <a:noFill/>
          <a:ln/>
        </p:spPr>
        <p:txBody>
          <a:bodyPr wrap="square" lIns="0" tIns="0" rIns="0" bIns="0" rtlCol="0" anchor="ctr"/>
          <a:lstStyle/>
          <a:p>
            <a:pPr marL="0" indent="0">
              <a:buNone/>
            </a:pPr>
            <a:r>
              <a:rPr lang="en-US" sz="1050" dirty="0">
                <a:solidFill>
                  <a:srgbClr val="9B8E7A"/>
                </a:solidFill>
                <a:latin typeface="Arial" pitchFamily="34" charset="0"/>
                <a:ea typeface="Arial" pitchFamily="34" charset="-122"/>
                <a:cs typeface="Arial" pitchFamily="34" charset="-120"/>
              </a:rPr>
              <a:t>Minesweeper but you're drinking. Tap tiles, one's the bomb. Most popular thing in the app.</a:t>
            </a:r>
            <a:endParaRPr lang="en-US" sz="1050" dirty="0"/>
          </a:p>
        </p:txBody>
      </p:sp>
      <p:sp>
        <p:nvSpPr>
          <p:cNvPr id="16" name="Shape 14"/>
          <p:cNvSpPr/>
          <p:nvPr/>
        </p:nvSpPr>
        <p:spPr>
          <a:xfrm>
            <a:off x="4754880" y="2971800"/>
            <a:ext cx="3931920" cy="13258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7" name="Shape 15"/>
          <p:cNvSpPr/>
          <p:nvPr/>
        </p:nvSpPr>
        <p:spPr>
          <a:xfrm>
            <a:off x="4754880" y="2971800"/>
            <a:ext cx="54864" cy="1325880"/>
          </a:xfrm>
          <a:prstGeom prst="rect">
            <a:avLst/>
          </a:prstGeom>
          <a:solidFill>
            <a:srgbClr val="D4A017"/>
          </a:solidFill>
          <a:ln/>
        </p:spPr>
        <p:txBody>
          <a:bodyPr/>
          <a:lstStyle/>
          <a:p>
            <a:endParaRPr lang="en-GB"/>
          </a:p>
        </p:txBody>
      </p:sp>
      <p:sp>
        <p:nvSpPr>
          <p:cNvPr id="18" name="Text 16"/>
          <p:cNvSpPr/>
          <p:nvPr/>
        </p:nvSpPr>
        <p:spPr>
          <a:xfrm>
            <a:off x="4937760" y="3063240"/>
            <a:ext cx="3566160" cy="274320"/>
          </a:xfrm>
          <a:prstGeom prst="rect">
            <a:avLst/>
          </a:prstGeom>
          <a:noFill/>
          <a:ln/>
        </p:spPr>
        <p:txBody>
          <a:bodyPr wrap="square" lIns="0" tIns="0" rIns="0" bIns="0" rtlCol="0" anchor="ctr"/>
          <a:lstStyle/>
          <a:p>
            <a:pPr marL="0" indent="0">
              <a:buNone/>
            </a:pPr>
            <a:r>
              <a:rPr lang="en-US" sz="1400" b="1" dirty="0">
                <a:solidFill>
                  <a:srgbClr val="D4A017"/>
                </a:solidFill>
                <a:latin typeface="Arial" pitchFamily="34" charset="0"/>
                <a:ea typeface="Arial" pitchFamily="34" charset="-122"/>
                <a:cs typeface="Arial" pitchFamily="34" charset="-120"/>
              </a:rPr>
              <a:t>The ledger</a:t>
            </a:r>
            <a:endParaRPr lang="en-US" sz="1400" dirty="0"/>
          </a:p>
        </p:txBody>
      </p:sp>
      <p:sp>
        <p:nvSpPr>
          <p:cNvPr id="19" name="Text 17"/>
          <p:cNvSpPr/>
          <p:nvPr/>
        </p:nvSpPr>
        <p:spPr>
          <a:xfrm>
            <a:off x="4937760" y="3383280"/>
            <a:ext cx="3566160" cy="822960"/>
          </a:xfrm>
          <a:prstGeom prst="rect">
            <a:avLst/>
          </a:prstGeom>
          <a:noFill/>
          <a:ln/>
        </p:spPr>
        <p:txBody>
          <a:bodyPr wrap="square" lIns="0" tIns="0" rIns="0" bIns="0" rtlCol="0" anchor="ctr"/>
          <a:lstStyle/>
          <a:p>
            <a:pPr marL="0" indent="0">
              <a:buNone/>
            </a:pPr>
            <a:r>
              <a:rPr lang="en-US" sz="1050" dirty="0">
                <a:solidFill>
                  <a:srgbClr val="9B8E7A"/>
                </a:solidFill>
                <a:latin typeface="Arial" pitchFamily="34" charset="0"/>
                <a:ea typeface="Arial" pitchFamily="34" charset="-122"/>
                <a:cs typeface="Arial" pitchFamily="34" charset="-120"/>
              </a:rPr>
              <a:t>Tracks every fraction of a drink owed. Carries across nights. The app never forgets.</a:t>
            </a:r>
            <a:endParaRPr lang="en-US" sz="1050" dirty="0"/>
          </a:p>
        </p:txBody>
      </p:sp>
      <p:sp>
        <p:nvSpPr>
          <p:cNvPr id="20" name="Text 18"/>
          <p:cNvSpPr/>
          <p:nvPr/>
        </p:nvSpPr>
        <p:spPr>
          <a:xfrm>
            <a:off x="548640" y="4434840"/>
            <a:ext cx="8046720" cy="411480"/>
          </a:xfrm>
          <a:prstGeom prst="rect">
            <a:avLst/>
          </a:prstGeom>
          <a:noFill/>
          <a:ln/>
        </p:spPr>
        <p:txBody>
          <a:bodyPr wrap="square" rtlCol="0" anchor="ctr"/>
          <a:lstStyle/>
          <a:p>
            <a:pPr marL="0" indent="0">
              <a:buNone/>
            </a:pPr>
            <a:r>
              <a:rPr lang="en-US" sz="1000" i="1" dirty="0">
                <a:solidFill>
                  <a:srgbClr val="9B8E7A"/>
                </a:solidFill>
                <a:latin typeface="Georgia" pitchFamily="34" charset="0"/>
                <a:ea typeface="Georgia" pitchFamily="34" charset="-122"/>
                <a:cs typeface="Georgia" pitchFamily="34" charset="-120"/>
              </a:rPr>
              <a:t>The name evolved with the product: BeerScore → BeerToBeer → BeerScore → SettleUp. The last one stuck — it's what people actually say at the bar.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THE WEEKEND</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How a bar napkin idea became a real app in 48 hours.</a:t>
            </a:r>
            <a:endParaRPr lang="en-US" sz="2400" dirty="0"/>
          </a:p>
        </p:txBody>
      </p:sp>
      <p:sp>
        <p:nvSpPr>
          <p:cNvPr id="4" name="Shape 2"/>
          <p:cNvSpPr/>
          <p:nvPr/>
        </p:nvSpPr>
        <p:spPr>
          <a:xfrm>
            <a:off x="594360" y="1527048"/>
            <a:ext cx="109728" cy="109728"/>
          </a:xfrm>
          <a:prstGeom prst="ellipse">
            <a:avLst/>
          </a:prstGeom>
          <a:solidFill>
            <a:srgbClr val="9B8E7A"/>
          </a:solidFill>
          <a:ln/>
        </p:spPr>
        <p:txBody>
          <a:bodyPr/>
          <a:lstStyle/>
          <a:p>
            <a:endParaRPr lang="en-GB"/>
          </a:p>
        </p:txBody>
      </p:sp>
      <p:sp>
        <p:nvSpPr>
          <p:cNvPr id="5" name="Shape 3"/>
          <p:cNvSpPr/>
          <p:nvPr/>
        </p:nvSpPr>
        <p:spPr>
          <a:xfrm>
            <a:off x="644652" y="1673352"/>
            <a:ext cx="9144" cy="658368"/>
          </a:xfrm>
          <a:prstGeom prst="rect">
            <a:avLst/>
          </a:prstGeom>
          <a:solidFill>
            <a:srgbClr val="252019"/>
          </a:solidFill>
          <a:ln/>
        </p:spPr>
        <p:txBody>
          <a:bodyPr/>
          <a:lstStyle/>
          <a:p>
            <a:endParaRPr lang="en-GB"/>
          </a:p>
        </p:txBody>
      </p:sp>
      <p:sp>
        <p:nvSpPr>
          <p:cNvPr id="6" name="Text 4"/>
          <p:cNvSpPr/>
          <p:nvPr/>
        </p:nvSpPr>
        <p:spPr>
          <a:xfrm>
            <a:off x="868680" y="1417320"/>
            <a:ext cx="1463040" cy="320040"/>
          </a:xfrm>
          <a:prstGeom prst="rect">
            <a:avLst/>
          </a:prstGeom>
          <a:noFill/>
          <a:ln/>
        </p:spPr>
        <p:txBody>
          <a:bodyPr wrap="square" lIns="0" tIns="0" rIns="0" bIns="0" rtlCol="0" anchor="t"/>
          <a:lstStyle/>
          <a:p>
            <a:pPr marL="0" indent="0">
              <a:buNone/>
            </a:pPr>
            <a:r>
              <a:rPr lang="en-US" sz="1200" b="1" dirty="0">
                <a:solidFill>
                  <a:srgbClr val="D4A017"/>
                </a:solidFill>
                <a:latin typeface="Arial" pitchFamily="34" charset="0"/>
                <a:ea typeface="Arial" pitchFamily="34" charset="-122"/>
                <a:cs typeface="Arial" pitchFamily="34" charset="-120"/>
              </a:rPr>
              <a:t>Friday PM</a:t>
            </a:r>
            <a:endParaRPr lang="en-US" sz="1200" dirty="0"/>
          </a:p>
        </p:txBody>
      </p:sp>
      <p:sp>
        <p:nvSpPr>
          <p:cNvPr id="7" name="Text 5"/>
          <p:cNvSpPr/>
          <p:nvPr/>
        </p:nvSpPr>
        <p:spPr>
          <a:xfrm>
            <a:off x="2377440" y="1417320"/>
            <a:ext cx="2743200" cy="320040"/>
          </a:xfrm>
          <a:prstGeom prst="rect">
            <a:avLst/>
          </a:prstGeom>
          <a:noFill/>
          <a:ln/>
        </p:spPr>
        <p:txBody>
          <a:bodyPr wrap="square" lIns="0" tIns="0" rIns="0" bIns="0" rtlCol="0" anchor="t"/>
          <a:lstStyle/>
          <a:p>
            <a:pPr marL="0" indent="0">
              <a:buNone/>
            </a:pPr>
            <a:r>
              <a:rPr lang="en-US" sz="1200" b="1" dirty="0">
                <a:solidFill>
                  <a:srgbClr val="F5E6C8"/>
                </a:solidFill>
                <a:latin typeface="Arial" pitchFamily="34" charset="0"/>
                <a:ea typeface="Arial" pitchFamily="34" charset="-122"/>
                <a:cs typeface="Arial" pitchFamily="34" charset="-120"/>
              </a:rPr>
              <a:t>Inductions + pub brainstorm</a:t>
            </a:r>
            <a:endParaRPr lang="en-US" sz="1200" dirty="0"/>
          </a:p>
        </p:txBody>
      </p:sp>
      <p:sp>
        <p:nvSpPr>
          <p:cNvPr id="8" name="Text 6"/>
          <p:cNvSpPr/>
          <p:nvPr/>
        </p:nvSpPr>
        <p:spPr>
          <a:xfrm>
            <a:off x="5212080" y="1417320"/>
            <a:ext cx="3566160" cy="731520"/>
          </a:xfrm>
          <a:prstGeom prst="rect">
            <a:avLst/>
          </a:prstGeom>
          <a:noFill/>
          <a:ln/>
        </p:spPr>
        <p:txBody>
          <a:bodyPr wrap="square" lIns="0" tIns="0" rIns="0" bIns="0" rtlCol="0" anchor="t"/>
          <a:lstStyle/>
          <a:p>
            <a:pPr marL="0" indent="0">
              <a:buNone/>
            </a:pPr>
            <a:r>
              <a:rPr lang="en-US" sz="1050" dirty="0">
                <a:solidFill>
                  <a:srgbClr val="9B8E7A"/>
                </a:solidFill>
                <a:latin typeface="Arial" pitchFamily="34" charset="0"/>
                <a:ea typeface="Arial" pitchFamily="34" charset="-122"/>
                <a:cs typeface="Arial" pitchFamily="34" charset="-120"/>
              </a:rPr>
              <a:t>Did the hackathon inductions. Went straight to the pub to figure out what we were actually building. Came back with a plan and a vision doc.</a:t>
            </a:r>
            <a:endParaRPr lang="en-US" sz="1050" dirty="0"/>
          </a:p>
        </p:txBody>
      </p:sp>
      <p:sp>
        <p:nvSpPr>
          <p:cNvPr id="9" name="Shape 7"/>
          <p:cNvSpPr/>
          <p:nvPr/>
        </p:nvSpPr>
        <p:spPr>
          <a:xfrm>
            <a:off x="594360" y="2395728"/>
            <a:ext cx="109728" cy="109728"/>
          </a:xfrm>
          <a:prstGeom prst="ellipse">
            <a:avLst/>
          </a:prstGeom>
          <a:solidFill>
            <a:srgbClr val="9B8E7A"/>
          </a:solidFill>
          <a:ln/>
        </p:spPr>
        <p:txBody>
          <a:bodyPr/>
          <a:lstStyle/>
          <a:p>
            <a:endParaRPr lang="en-GB"/>
          </a:p>
        </p:txBody>
      </p:sp>
      <p:sp>
        <p:nvSpPr>
          <p:cNvPr id="10" name="Shape 8"/>
          <p:cNvSpPr/>
          <p:nvPr/>
        </p:nvSpPr>
        <p:spPr>
          <a:xfrm>
            <a:off x="644652" y="2542032"/>
            <a:ext cx="9144" cy="658368"/>
          </a:xfrm>
          <a:prstGeom prst="rect">
            <a:avLst/>
          </a:prstGeom>
          <a:solidFill>
            <a:srgbClr val="252019"/>
          </a:solidFill>
          <a:ln/>
        </p:spPr>
        <p:txBody>
          <a:bodyPr/>
          <a:lstStyle/>
          <a:p>
            <a:endParaRPr lang="en-GB"/>
          </a:p>
        </p:txBody>
      </p:sp>
      <p:sp>
        <p:nvSpPr>
          <p:cNvPr id="11" name="Text 9"/>
          <p:cNvSpPr/>
          <p:nvPr/>
        </p:nvSpPr>
        <p:spPr>
          <a:xfrm>
            <a:off x="868680" y="2286000"/>
            <a:ext cx="1463040" cy="320040"/>
          </a:xfrm>
          <a:prstGeom prst="rect">
            <a:avLst/>
          </a:prstGeom>
          <a:noFill/>
          <a:ln/>
        </p:spPr>
        <p:txBody>
          <a:bodyPr wrap="square" lIns="0" tIns="0" rIns="0" bIns="0" rtlCol="0" anchor="t"/>
          <a:lstStyle/>
          <a:p>
            <a:pPr marL="0" indent="0">
              <a:buNone/>
            </a:pPr>
            <a:r>
              <a:rPr lang="en-US" sz="1200" b="1" dirty="0">
                <a:solidFill>
                  <a:srgbClr val="D4A017"/>
                </a:solidFill>
                <a:latin typeface="Arial" pitchFamily="34" charset="0"/>
                <a:ea typeface="Arial" pitchFamily="34" charset="-122"/>
                <a:cs typeface="Arial" pitchFamily="34" charset="-120"/>
              </a:rPr>
              <a:t>Saturday AM</a:t>
            </a:r>
            <a:endParaRPr lang="en-US" sz="1200" dirty="0"/>
          </a:p>
        </p:txBody>
      </p:sp>
      <p:sp>
        <p:nvSpPr>
          <p:cNvPr id="12" name="Text 10"/>
          <p:cNvSpPr/>
          <p:nvPr/>
        </p:nvSpPr>
        <p:spPr>
          <a:xfrm>
            <a:off x="2377440" y="2286000"/>
            <a:ext cx="2743200" cy="320040"/>
          </a:xfrm>
          <a:prstGeom prst="rect">
            <a:avLst/>
          </a:prstGeom>
          <a:noFill/>
          <a:ln/>
        </p:spPr>
        <p:txBody>
          <a:bodyPr wrap="square" lIns="0" tIns="0" rIns="0" bIns="0" rtlCol="0" anchor="t"/>
          <a:lstStyle/>
          <a:p>
            <a:pPr marL="0" indent="0">
              <a:buNone/>
            </a:pPr>
            <a:r>
              <a:rPr lang="en-US" sz="1200" b="1" dirty="0">
                <a:solidFill>
                  <a:srgbClr val="F5E6C8"/>
                </a:solidFill>
                <a:latin typeface="Arial" pitchFamily="34" charset="0"/>
                <a:ea typeface="Arial" pitchFamily="34" charset="-122"/>
                <a:cs typeface="Arial" pitchFamily="34" charset="-120"/>
              </a:rPr>
              <a:t>Build the prototype</a:t>
            </a:r>
            <a:endParaRPr lang="en-US" sz="1200" dirty="0"/>
          </a:p>
        </p:txBody>
      </p:sp>
      <p:sp>
        <p:nvSpPr>
          <p:cNvPr id="13" name="Text 11"/>
          <p:cNvSpPr/>
          <p:nvPr/>
        </p:nvSpPr>
        <p:spPr>
          <a:xfrm>
            <a:off x="5212080" y="2286000"/>
            <a:ext cx="3566160" cy="731520"/>
          </a:xfrm>
          <a:prstGeom prst="rect">
            <a:avLst/>
          </a:prstGeom>
          <a:noFill/>
          <a:ln/>
        </p:spPr>
        <p:txBody>
          <a:bodyPr wrap="square" lIns="0" tIns="0" rIns="0" bIns="0" rtlCol="0" anchor="t"/>
          <a:lstStyle/>
          <a:p>
            <a:pPr marL="0" indent="0">
              <a:buNone/>
            </a:pPr>
            <a:r>
              <a:rPr lang="en-US" sz="1050" dirty="0">
                <a:solidFill>
                  <a:srgbClr val="9B8E7A"/>
                </a:solidFill>
                <a:latin typeface="Arial" pitchFamily="34" charset="0"/>
                <a:ea typeface="Arial" pitchFamily="34" charset="-122"/>
                <a:cs typeface="Arial" pitchFamily="34" charset="-120"/>
              </a:rPr>
              <a:t>Fed the vision doc to Claude. By end of morning we had a working app — crews, nights, bets, the lot. But the database was slow and messy.</a:t>
            </a:r>
            <a:endParaRPr lang="en-US" sz="1050" dirty="0"/>
          </a:p>
        </p:txBody>
      </p:sp>
      <p:sp>
        <p:nvSpPr>
          <p:cNvPr id="14" name="Shape 12"/>
          <p:cNvSpPr/>
          <p:nvPr/>
        </p:nvSpPr>
        <p:spPr>
          <a:xfrm>
            <a:off x="594360" y="3264408"/>
            <a:ext cx="109728" cy="109728"/>
          </a:xfrm>
          <a:prstGeom prst="ellipse">
            <a:avLst/>
          </a:prstGeom>
          <a:solidFill>
            <a:srgbClr val="9B8E7A"/>
          </a:solidFill>
          <a:ln/>
        </p:spPr>
        <p:txBody>
          <a:bodyPr/>
          <a:lstStyle/>
          <a:p>
            <a:endParaRPr lang="en-GB"/>
          </a:p>
        </p:txBody>
      </p:sp>
      <p:sp>
        <p:nvSpPr>
          <p:cNvPr id="15" name="Shape 13"/>
          <p:cNvSpPr/>
          <p:nvPr/>
        </p:nvSpPr>
        <p:spPr>
          <a:xfrm>
            <a:off x="644652" y="3410712"/>
            <a:ext cx="9144" cy="658368"/>
          </a:xfrm>
          <a:prstGeom prst="rect">
            <a:avLst/>
          </a:prstGeom>
          <a:solidFill>
            <a:srgbClr val="252019"/>
          </a:solidFill>
          <a:ln/>
        </p:spPr>
        <p:txBody>
          <a:bodyPr/>
          <a:lstStyle/>
          <a:p>
            <a:endParaRPr lang="en-GB"/>
          </a:p>
        </p:txBody>
      </p:sp>
      <p:sp>
        <p:nvSpPr>
          <p:cNvPr id="16" name="Text 14"/>
          <p:cNvSpPr/>
          <p:nvPr/>
        </p:nvSpPr>
        <p:spPr>
          <a:xfrm>
            <a:off x="868680" y="3154680"/>
            <a:ext cx="1463040" cy="320040"/>
          </a:xfrm>
          <a:prstGeom prst="rect">
            <a:avLst/>
          </a:prstGeom>
          <a:noFill/>
          <a:ln/>
        </p:spPr>
        <p:txBody>
          <a:bodyPr wrap="square" lIns="0" tIns="0" rIns="0" bIns="0" rtlCol="0" anchor="t"/>
          <a:lstStyle/>
          <a:p>
            <a:pPr marL="0" indent="0">
              <a:buNone/>
            </a:pPr>
            <a:r>
              <a:rPr lang="en-US" sz="1200" b="1" dirty="0">
                <a:solidFill>
                  <a:srgbClr val="D4A017"/>
                </a:solidFill>
                <a:latin typeface="Arial" pitchFamily="34" charset="0"/>
                <a:ea typeface="Arial" pitchFamily="34" charset="-122"/>
                <a:cs typeface="Arial" pitchFamily="34" charset="-120"/>
              </a:rPr>
              <a:t>Saturday 6 PM</a:t>
            </a:r>
            <a:endParaRPr lang="en-US" sz="1200" dirty="0"/>
          </a:p>
        </p:txBody>
      </p:sp>
      <p:sp>
        <p:nvSpPr>
          <p:cNvPr id="17" name="Text 15"/>
          <p:cNvSpPr/>
          <p:nvPr/>
        </p:nvSpPr>
        <p:spPr>
          <a:xfrm>
            <a:off x="2377440" y="3154680"/>
            <a:ext cx="2743200" cy="320040"/>
          </a:xfrm>
          <a:prstGeom prst="rect">
            <a:avLst/>
          </a:prstGeom>
          <a:noFill/>
          <a:ln/>
        </p:spPr>
        <p:txBody>
          <a:bodyPr wrap="square" lIns="0" tIns="0" rIns="0" bIns="0" rtlCol="0" anchor="t"/>
          <a:lstStyle/>
          <a:p>
            <a:pPr marL="0" indent="0">
              <a:buNone/>
            </a:pPr>
            <a:r>
              <a:rPr lang="en-US" sz="1200" b="1" dirty="0">
                <a:solidFill>
                  <a:srgbClr val="F5E6C8"/>
                </a:solidFill>
                <a:latin typeface="Arial" pitchFamily="34" charset="0"/>
                <a:ea typeface="Arial" pitchFamily="34" charset="-122"/>
                <a:cs typeface="Arial" pitchFamily="34" charset="-120"/>
              </a:rPr>
              <a:t>The hard call: full DB wipe</a:t>
            </a:r>
            <a:endParaRPr lang="en-US" sz="1200" dirty="0"/>
          </a:p>
        </p:txBody>
      </p:sp>
      <p:sp>
        <p:nvSpPr>
          <p:cNvPr id="18" name="Text 16"/>
          <p:cNvSpPr/>
          <p:nvPr/>
        </p:nvSpPr>
        <p:spPr>
          <a:xfrm>
            <a:off x="5212080" y="3154680"/>
            <a:ext cx="3566160" cy="731520"/>
          </a:xfrm>
          <a:prstGeom prst="rect">
            <a:avLst/>
          </a:prstGeom>
          <a:noFill/>
          <a:ln/>
        </p:spPr>
        <p:txBody>
          <a:bodyPr wrap="square" lIns="0" tIns="0" rIns="0" bIns="0" rtlCol="0" anchor="t"/>
          <a:lstStyle/>
          <a:p>
            <a:pPr marL="0" indent="0">
              <a:buNone/>
            </a:pPr>
            <a:r>
              <a:rPr lang="en-US" sz="1050" dirty="0">
                <a:solidFill>
                  <a:srgbClr val="9B8E7A"/>
                </a:solidFill>
                <a:latin typeface="Arial" pitchFamily="34" charset="0"/>
                <a:ea typeface="Arial" pitchFamily="34" charset="-122"/>
                <a:cs typeface="Arial" pitchFamily="34" charset="-120"/>
              </a:rPr>
              <a:t>Poor initial planning was killing us. Wiped the entire database, designed v2 from scratch, and rebuilt. Painful but necessary.</a:t>
            </a:r>
            <a:endParaRPr lang="en-US" sz="1050" dirty="0"/>
          </a:p>
        </p:txBody>
      </p:sp>
      <p:sp>
        <p:nvSpPr>
          <p:cNvPr id="19" name="Shape 17"/>
          <p:cNvSpPr/>
          <p:nvPr/>
        </p:nvSpPr>
        <p:spPr>
          <a:xfrm>
            <a:off x="594360" y="4133088"/>
            <a:ext cx="109728" cy="109728"/>
          </a:xfrm>
          <a:prstGeom prst="ellipse">
            <a:avLst/>
          </a:prstGeom>
          <a:solidFill>
            <a:srgbClr val="D4A017"/>
          </a:solidFill>
          <a:ln/>
        </p:spPr>
        <p:txBody>
          <a:bodyPr/>
          <a:lstStyle/>
          <a:p>
            <a:endParaRPr lang="en-GB"/>
          </a:p>
        </p:txBody>
      </p:sp>
      <p:sp>
        <p:nvSpPr>
          <p:cNvPr id="20" name="Text 18"/>
          <p:cNvSpPr/>
          <p:nvPr/>
        </p:nvSpPr>
        <p:spPr>
          <a:xfrm>
            <a:off x="868680" y="4023360"/>
            <a:ext cx="1463040" cy="320040"/>
          </a:xfrm>
          <a:prstGeom prst="rect">
            <a:avLst/>
          </a:prstGeom>
          <a:noFill/>
          <a:ln/>
        </p:spPr>
        <p:txBody>
          <a:bodyPr wrap="square" lIns="0" tIns="0" rIns="0" bIns="0" rtlCol="0" anchor="t"/>
          <a:lstStyle/>
          <a:p>
            <a:pPr marL="0" indent="0">
              <a:buNone/>
            </a:pPr>
            <a:r>
              <a:rPr lang="en-US" sz="1200" b="1" dirty="0">
                <a:solidFill>
                  <a:srgbClr val="D4A017"/>
                </a:solidFill>
                <a:latin typeface="Arial" pitchFamily="34" charset="0"/>
                <a:ea typeface="Arial" pitchFamily="34" charset="-122"/>
                <a:cs typeface="Arial" pitchFamily="34" charset="-120"/>
              </a:rPr>
              <a:t>Saturday 11 PM</a:t>
            </a:r>
            <a:endParaRPr lang="en-US" sz="1200" dirty="0"/>
          </a:p>
        </p:txBody>
      </p:sp>
      <p:sp>
        <p:nvSpPr>
          <p:cNvPr id="21" name="Text 19"/>
          <p:cNvSpPr/>
          <p:nvPr/>
        </p:nvSpPr>
        <p:spPr>
          <a:xfrm>
            <a:off x="2377440" y="4023360"/>
            <a:ext cx="2743200" cy="320040"/>
          </a:xfrm>
          <a:prstGeom prst="rect">
            <a:avLst/>
          </a:prstGeom>
          <a:noFill/>
          <a:ln/>
        </p:spPr>
        <p:txBody>
          <a:bodyPr wrap="square" lIns="0" tIns="0" rIns="0" bIns="0" rtlCol="0" anchor="t"/>
          <a:lstStyle/>
          <a:p>
            <a:pPr marL="0" indent="0">
              <a:buNone/>
            </a:pPr>
            <a:r>
              <a:rPr lang="en-US" sz="1200" b="1" dirty="0">
                <a:solidFill>
                  <a:srgbClr val="F5E6C8"/>
                </a:solidFill>
                <a:latin typeface="Arial" pitchFamily="34" charset="0"/>
                <a:ea typeface="Arial" pitchFamily="34" charset="-122"/>
                <a:cs typeface="Arial" pitchFamily="34" charset="-120"/>
              </a:rPr>
              <a:t>Time to test it for real</a:t>
            </a:r>
            <a:endParaRPr lang="en-US" sz="1200" dirty="0"/>
          </a:p>
        </p:txBody>
      </p:sp>
      <p:sp>
        <p:nvSpPr>
          <p:cNvPr id="22" name="Text 20"/>
          <p:cNvSpPr/>
          <p:nvPr/>
        </p:nvSpPr>
        <p:spPr>
          <a:xfrm>
            <a:off x="5212080" y="4023360"/>
            <a:ext cx="3566160" cy="731520"/>
          </a:xfrm>
          <a:prstGeom prst="rect">
            <a:avLst/>
          </a:prstGeom>
          <a:noFill/>
          <a:ln/>
        </p:spPr>
        <p:txBody>
          <a:bodyPr wrap="square" lIns="0" tIns="0" rIns="0" bIns="0" rtlCol="0" anchor="t"/>
          <a:lstStyle/>
          <a:p>
            <a:pPr marL="0" indent="0">
              <a:buNone/>
            </a:pPr>
            <a:r>
              <a:rPr lang="en-US" sz="1050" dirty="0">
                <a:solidFill>
                  <a:srgbClr val="9B8E7A"/>
                </a:solidFill>
                <a:latin typeface="Arial" pitchFamily="34" charset="0"/>
                <a:ea typeface="Arial" pitchFamily="34" charset="-122"/>
                <a:cs typeface="Arial" pitchFamily="34" charset="-120"/>
              </a:rPr>
              <a:t>Set up Claude Code remote dispatch. Went to the pub. Ordered a beer. Opened the app. Immediately started finding things to fix.</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PUB-DRIVEN DEVELOPMENT</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The pub wasn't just where we tested. It's where we built.</a:t>
            </a:r>
            <a:endParaRPr lang="en-US" sz="2400" dirty="0"/>
          </a:p>
        </p:txBody>
      </p:sp>
      <p:pic>
        <p:nvPicPr>
          <p:cNvPr id="4" name="Image 0" descr="preencoded.png"/>
          <p:cNvPicPr>
            <a:picLocks noChangeAspect="1"/>
          </p:cNvPicPr>
          <p:nvPr/>
        </p:nvPicPr>
        <p:blipFill>
          <a:blip r:embed="rId3"/>
          <a:srcRect/>
          <a:stretch/>
        </p:blipFill>
        <p:spPr>
          <a:xfrm>
            <a:off x="839435" y="1211580"/>
            <a:ext cx="3147678" cy="2848926"/>
          </a:xfrm>
          <a:prstGeom prst="rect">
            <a:avLst/>
          </a:prstGeom>
        </p:spPr>
      </p:pic>
      <p:pic>
        <p:nvPicPr>
          <p:cNvPr id="5" name="Image 1" descr="preencoded.png"/>
          <p:cNvPicPr>
            <a:picLocks noChangeAspect="1"/>
          </p:cNvPicPr>
          <p:nvPr/>
        </p:nvPicPr>
        <p:blipFill>
          <a:blip r:embed="rId4"/>
          <a:srcRect/>
          <a:stretch/>
        </p:blipFill>
        <p:spPr>
          <a:xfrm>
            <a:off x="4598360" y="1211580"/>
            <a:ext cx="3147679" cy="2831124"/>
          </a:xfrm>
          <a:prstGeom prst="rect">
            <a:avLst/>
          </a:prstGeom>
        </p:spPr>
      </p:pic>
      <p:sp>
        <p:nvSpPr>
          <p:cNvPr id="6" name="Shape 2"/>
          <p:cNvSpPr/>
          <p:nvPr/>
        </p:nvSpPr>
        <p:spPr>
          <a:xfrm>
            <a:off x="740211" y="4351225"/>
            <a:ext cx="91440" cy="91440"/>
          </a:xfrm>
          <a:prstGeom prst="ellipse">
            <a:avLst/>
          </a:prstGeom>
          <a:solidFill>
            <a:srgbClr val="D4A017"/>
          </a:solidFill>
          <a:ln/>
        </p:spPr>
        <p:txBody>
          <a:bodyPr/>
          <a:lstStyle/>
          <a:p>
            <a:endParaRPr lang="en-GB"/>
          </a:p>
        </p:txBody>
      </p:sp>
      <p:sp>
        <p:nvSpPr>
          <p:cNvPr id="7" name="Text 3"/>
          <p:cNvSpPr/>
          <p:nvPr/>
        </p:nvSpPr>
        <p:spPr>
          <a:xfrm>
            <a:off x="991671" y="4171223"/>
            <a:ext cx="2560320" cy="731520"/>
          </a:xfrm>
          <a:prstGeom prst="rect">
            <a:avLst/>
          </a:prstGeom>
          <a:noFill/>
          <a:ln/>
        </p:spPr>
        <p:txBody>
          <a:bodyPr wrap="square" lIns="0" tIns="0" rIns="0" bIns="0" rtlCol="0" anchor="t"/>
          <a:lstStyle/>
          <a:p>
            <a:pPr marL="0" indent="0">
              <a:buNone/>
            </a:pPr>
            <a:r>
              <a:rPr lang="en-US" sz="950" dirty="0">
                <a:solidFill>
                  <a:srgbClr val="9B8E7A"/>
                </a:solidFill>
                <a:latin typeface="Arial" pitchFamily="34" charset="0"/>
                <a:ea typeface="Arial" pitchFamily="34" charset="-122"/>
                <a:cs typeface="Arial" pitchFamily="34" charset="-120"/>
              </a:rPr>
              <a:t>Beer Bomb got more play than every bet combined — mini-games get the night going, losses drive bigger bets</a:t>
            </a:r>
            <a:endParaRPr lang="en-US" sz="950" dirty="0"/>
          </a:p>
        </p:txBody>
      </p:sp>
      <p:sp>
        <p:nvSpPr>
          <p:cNvPr id="8" name="Shape 4"/>
          <p:cNvSpPr/>
          <p:nvPr/>
        </p:nvSpPr>
        <p:spPr>
          <a:xfrm>
            <a:off x="4868397" y="4351225"/>
            <a:ext cx="91440" cy="91440"/>
          </a:xfrm>
          <a:prstGeom prst="ellipse">
            <a:avLst/>
          </a:prstGeom>
          <a:solidFill>
            <a:srgbClr val="D4A017"/>
          </a:solidFill>
          <a:ln/>
        </p:spPr>
        <p:txBody>
          <a:bodyPr/>
          <a:lstStyle/>
          <a:p>
            <a:endParaRPr lang="en-GB"/>
          </a:p>
        </p:txBody>
      </p:sp>
      <p:sp>
        <p:nvSpPr>
          <p:cNvPr id="9" name="Text 5"/>
          <p:cNvSpPr/>
          <p:nvPr/>
        </p:nvSpPr>
        <p:spPr>
          <a:xfrm>
            <a:off x="5111825" y="4248444"/>
            <a:ext cx="2560320" cy="731520"/>
          </a:xfrm>
          <a:prstGeom prst="rect">
            <a:avLst/>
          </a:prstGeom>
          <a:noFill/>
          <a:ln/>
        </p:spPr>
        <p:txBody>
          <a:bodyPr wrap="square" lIns="0" tIns="0" rIns="0" bIns="0" rtlCol="0" anchor="t"/>
          <a:lstStyle/>
          <a:p>
            <a:pPr marL="0" indent="0">
              <a:buNone/>
            </a:pPr>
            <a:r>
              <a:rPr lang="en-US" sz="950" dirty="0">
                <a:solidFill>
                  <a:srgbClr val="9B8E7A"/>
                </a:solidFill>
                <a:latin typeface="Arial" pitchFamily="34" charset="0"/>
                <a:ea typeface="Arial" pitchFamily="34" charset="-122"/>
                <a:cs typeface="Arial" pitchFamily="34" charset="-120"/>
              </a:rPr>
              <a:t>New players took too long to join - built QR codes on the spot so you scan and you're in</a:t>
            </a:r>
            <a:endParaRPr lang="en-US" sz="950" dirty="0"/>
          </a:p>
        </p:txBody>
      </p:sp>
      <p:sp>
        <p:nvSpPr>
          <p:cNvPr id="11" name="Text 7"/>
          <p:cNvSpPr/>
          <p:nvPr/>
        </p:nvSpPr>
        <p:spPr>
          <a:xfrm>
            <a:off x="2870433" y="4869180"/>
            <a:ext cx="2922951" cy="731520"/>
          </a:xfrm>
          <a:prstGeom prst="rect">
            <a:avLst/>
          </a:prstGeom>
          <a:noFill/>
          <a:ln/>
        </p:spPr>
        <p:txBody>
          <a:bodyPr wrap="square" lIns="0" tIns="0" rIns="0" bIns="0" rtlCol="0" anchor="t"/>
          <a:lstStyle/>
          <a:p>
            <a:pPr marL="0" indent="0">
              <a:buNone/>
            </a:pPr>
            <a:r>
              <a:rPr lang="en-US" sz="950" b="1" dirty="0">
                <a:solidFill>
                  <a:srgbClr val="9B8E7A"/>
                </a:solidFill>
                <a:latin typeface="Arial" pitchFamily="34" charset="0"/>
                <a:ea typeface="Arial" pitchFamily="34" charset="-122"/>
                <a:cs typeface="Arial" pitchFamily="34" charset="-120"/>
              </a:rPr>
              <a:t>Shipped it all live from the bar via Claude Code</a:t>
            </a:r>
            <a:endParaRPr lang="en-US" sz="95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THE RECEIPTS</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"haydentbs and claude committed" — pushes to main directly from the bar</a:t>
            </a:r>
            <a:endParaRPr lang="en-US" sz="2400" dirty="0"/>
          </a:p>
        </p:txBody>
      </p:sp>
      <p:pic>
        <p:nvPicPr>
          <p:cNvPr id="4" name="Image 0" descr="preencoded.png"/>
          <p:cNvPicPr>
            <a:picLocks noChangeAspect="1"/>
          </p:cNvPicPr>
          <p:nvPr/>
        </p:nvPicPr>
        <p:blipFill>
          <a:blip r:embed="rId3"/>
          <a:srcRect/>
          <a:stretch/>
        </p:blipFill>
        <p:spPr>
          <a:xfrm>
            <a:off x="274320" y="1622854"/>
            <a:ext cx="4206240" cy="2286000"/>
          </a:xfrm>
          <a:prstGeom prst="rect">
            <a:avLst/>
          </a:prstGeom>
        </p:spPr>
      </p:pic>
      <p:pic>
        <p:nvPicPr>
          <p:cNvPr id="5" name="Image 1" descr="preencoded.png"/>
          <p:cNvPicPr>
            <a:picLocks noChangeAspect="1"/>
          </p:cNvPicPr>
          <p:nvPr/>
        </p:nvPicPr>
        <p:blipFill>
          <a:blip r:embed="rId4"/>
          <a:srcRect/>
          <a:stretch/>
        </p:blipFill>
        <p:spPr>
          <a:xfrm>
            <a:off x="4663440" y="1622854"/>
            <a:ext cx="4206240" cy="2286000"/>
          </a:xfrm>
          <a:prstGeom prst="rect">
            <a:avLst/>
          </a:prstGeom>
        </p:spPr>
      </p:pic>
      <p:sp>
        <p:nvSpPr>
          <p:cNvPr id="6" name="Text 2"/>
          <p:cNvSpPr/>
          <p:nvPr/>
        </p:nvSpPr>
        <p:spPr>
          <a:xfrm>
            <a:off x="548640" y="4102237"/>
            <a:ext cx="8229600" cy="411480"/>
          </a:xfrm>
          <a:prstGeom prst="rect">
            <a:avLst/>
          </a:prstGeom>
          <a:noFill/>
          <a:ln/>
        </p:spPr>
        <p:txBody>
          <a:bodyPr wrap="square" lIns="0" tIns="0" rIns="0" bIns="0" rtlCol="0" anchor="ctr"/>
          <a:lstStyle/>
          <a:p>
            <a:pPr marL="0" indent="0">
              <a:buNone/>
            </a:pPr>
            <a:r>
              <a:rPr lang="en-US" sz="1100" dirty="0">
                <a:solidFill>
                  <a:srgbClr val="9B8E7A"/>
                </a:solidFill>
                <a:latin typeface="Arial" pitchFamily="34" charset="0"/>
                <a:ea typeface="Arial" pitchFamily="34" charset="-122"/>
                <a:cs typeface="Arial" pitchFamily="34" charset="-120"/>
              </a:rPr>
              <a:t>QR codes, Beer Bomb realtime sync, invite link fixes, leaderboard polish, animation tuning — all shipped from the pub and through the night.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OUR AI STACK</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We didn’t want to be restricted by one tool and one agent</a:t>
            </a:r>
            <a:endParaRPr lang="en-US" sz="2400" dirty="0"/>
          </a:p>
        </p:txBody>
      </p:sp>
      <p:sp>
        <p:nvSpPr>
          <p:cNvPr id="4" name="Shape 2"/>
          <p:cNvSpPr/>
          <p:nvPr/>
        </p:nvSpPr>
        <p:spPr>
          <a:xfrm>
            <a:off x="548640" y="1417320"/>
            <a:ext cx="3931920" cy="141732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5" name="Shape 3"/>
          <p:cNvSpPr/>
          <p:nvPr/>
        </p:nvSpPr>
        <p:spPr>
          <a:xfrm>
            <a:off x="548640" y="1417320"/>
            <a:ext cx="54864" cy="1417320"/>
          </a:xfrm>
          <a:prstGeom prst="rect">
            <a:avLst/>
          </a:prstGeom>
          <a:solidFill>
            <a:srgbClr val="D4A017"/>
          </a:solidFill>
          <a:ln/>
        </p:spPr>
        <p:txBody>
          <a:bodyPr/>
          <a:lstStyle/>
          <a:p>
            <a:endParaRPr lang="en-GB"/>
          </a:p>
        </p:txBody>
      </p:sp>
      <p:sp>
        <p:nvSpPr>
          <p:cNvPr id="6" name="Text 4"/>
          <p:cNvSpPr/>
          <p:nvPr/>
        </p:nvSpPr>
        <p:spPr>
          <a:xfrm>
            <a:off x="731520" y="1508760"/>
            <a:ext cx="2011680" cy="320040"/>
          </a:xfrm>
          <a:prstGeom prst="rect">
            <a:avLst/>
          </a:prstGeom>
          <a:noFill/>
          <a:ln/>
        </p:spPr>
        <p:txBody>
          <a:bodyPr wrap="square" lIns="0" tIns="0" rIns="0" bIns="0" rtlCol="0" anchor="ctr"/>
          <a:lstStyle/>
          <a:p>
            <a:pPr marL="0" indent="0">
              <a:buNone/>
            </a:pPr>
            <a:r>
              <a:rPr lang="en-US" sz="1600" b="1" dirty="0">
                <a:solidFill>
                  <a:srgbClr val="F5E6C8"/>
                </a:solidFill>
                <a:latin typeface="Arial" pitchFamily="34" charset="0"/>
                <a:ea typeface="Arial" pitchFamily="34" charset="-122"/>
                <a:cs typeface="Arial" pitchFamily="34" charset="-120"/>
              </a:rPr>
              <a:t>v0 + Vercel</a:t>
            </a:r>
            <a:endParaRPr lang="en-US" sz="1600" dirty="0"/>
          </a:p>
        </p:txBody>
      </p:sp>
      <p:sp>
        <p:nvSpPr>
          <p:cNvPr id="7" name="Text 5"/>
          <p:cNvSpPr/>
          <p:nvPr/>
        </p:nvSpPr>
        <p:spPr>
          <a:xfrm>
            <a:off x="2743200" y="1545336"/>
            <a:ext cx="1554480" cy="256032"/>
          </a:xfrm>
          <a:prstGeom prst="rect">
            <a:avLst/>
          </a:prstGeom>
          <a:noFill/>
          <a:ln/>
        </p:spPr>
        <p:txBody>
          <a:bodyPr wrap="square" lIns="0" tIns="0" rIns="0" bIns="0" rtlCol="0" anchor="ctr"/>
          <a:lstStyle/>
          <a:p>
            <a:pPr marL="0" indent="0" algn="r">
              <a:buNone/>
            </a:pPr>
            <a:r>
              <a:rPr lang="en-US" sz="1000" dirty="0">
                <a:solidFill>
                  <a:srgbClr val="D4A017"/>
                </a:solidFill>
                <a:latin typeface="Arial" pitchFamily="34" charset="0"/>
                <a:ea typeface="Arial" pitchFamily="34" charset="-122"/>
                <a:cs typeface="Arial" pitchFamily="34" charset="-120"/>
              </a:rPr>
              <a:t>Design + deploy</a:t>
            </a:r>
            <a:endParaRPr lang="en-US" sz="1000" dirty="0"/>
          </a:p>
        </p:txBody>
      </p:sp>
      <p:sp>
        <p:nvSpPr>
          <p:cNvPr id="8" name="Text 6"/>
          <p:cNvSpPr/>
          <p:nvPr/>
        </p:nvSpPr>
        <p:spPr>
          <a:xfrm>
            <a:off x="731520" y="1920240"/>
            <a:ext cx="3566160" cy="777240"/>
          </a:xfrm>
          <a:prstGeom prst="rect">
            <a:avLst/>
          </a:prstGeom>
          <a:noFill/>
          <a:ln/>
        </p:spPr>
        <p:txBody>
          <a:bodyPr wrap="square" lIns="0" tIns="0" rIns="0" bIns="0" rtlCol="0" anchor="ctr"/>
          <a:lstStyle/>
          <a:p>
            <a:pPr marL="0" indent="0">
              <a:buNone/>
            </a:pPr>
            <a:r>
              <a:rPr lang="en-US" sz="1100" dirty="0">
                <a:solidFill>
                  <a:srgbClr val="9B8E7A"/>
                </a:solidFill>
                <a:latin typeface="Arial" pitchFamily="34" charset="0"/>
                <a:ea typeface="Arial" pitchFamily="34" charset="-122"/>
                <a:cs typeface="Arial" pitchFamily="34" charset="-120"/>
              </a:rPr>
              <a:t>Initial designs, rapid iteration on UI direction, instant deploys.</a:t>
            </a:r>
            <a:endParaRPr lang="en-US" sz="1100" dirty="0"/>
          </a:p>
        </p:txBody>
      </p:sp>
      <p:sp>
        <p:nvSpPr>
          <p:cNvPr id="9" name="Shape 7"/>
          <p:cNvSpPr/>
          <p:nvPr/>
        </p:nvSpPr>
        <p:spPr>
          <a:xfrm>
            <a:off x="4754880" y="1417320"/>
            <a:ext cx="3931920" cy="141732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0" name="Shape 8"/>
          <p:cNvSpPr/>
          <p:nvPr/>
        </p:nvSpPr>
        <p:spPr>
          <a:xfrm>
            <a:off x="4754880" y="1417320"/>
            <a:ext cx="54864" cy="1417320"/>
          </a:xfrm>
          <a:prstGeom prst="rect">
            <a:avLst/>
          </a:prstGeom>
          <a:solidFill>
            <a:srgbClr val="D4A017"/>
          </a:solidFill>
          <a:ln/>
        </p:spPr>
        <p:txBody>
          <a:bodyPr/>
          <a:lstStyle/>
          <a:p>
            <a:endParaRPr lang="en-GB"/>
          </a:p>
        </p:txBody>
      </p:sp>
      <p:sp>
        <p:nvSpPr>
          <p:cNvPr id="11" name="Text 9"/>
          <p:cNvSpPr/>
          <p:nvPr/>
        </p:nvSpPr>
        <p:spPr>
          <a:xfrm>
            <a:off x="4937760" y="1508760"/>
            <a:ext cx="2011680" cy="320040"/>
          </a:xfrm>
          <a:prstGeom prst="rect">
            <a:avLst/>
          </a:prstGeom>
          <a:noFill/>
          <a:ln/>
        </p:spPr>
        <p:txBody>
          <a:bodyPr wrap="square" lIns="0" tIns="0" rIns="0" bIns="0" rtlCol="0" anchor="ctr"/>
          <a:lstStyle/>
          <a:p>
            <a:pPr marL="0" indent="0">
              <a:buNone/>
            </a:pPr>
            <a:r>
              <a:rPr lang="en-US" sz="1600" b="1" dirty="0">
                <a:solidFill>
                  <a:srgbClr val="F5E6C8"/>
                </a:solidFill>
                <a:latin typeface="Arial" pitchFamily="34" charset="0"/>
                <a:ea typeface="Arial" pitchFamily="34" charset="-122"/>
                <a:cs typeface="Arial" pitchFamily="34" charset="-120"/>
              </a:rPr>
              <a:t>Cursor</a:t>
            </a:r>
            <a:endParaRPr lang="en-US" sz="1600" dirty="0"/>
          </a:p>
        </p:txBody>
      </p:sp>
      <p:sp>
        <p:nvSpPr>
          <p:cNvPr id="12" name="Text 10"/>
          <p:cNvSpPr/>
          <p:nvPr/>
        </p:nvSpPr>
        <p:spPr>
          <a:xfrm>
            <a:off x="6949440" y="1545336"/>
            <a:ext cx="1554480" cy="256032"/>
          </a:xfrm>
          <a:prstGeom prst="rect">
            <a:avLst/>
          </a:prstGeom>
          <a:noFill/>
          <a:ln/>
        </p:spPr>
        <p:txBody>
          <a:bodyPr wrap="square" lIns="0" tIns="0" rIns="0" bIns="0" rtlCol="0" anchor="ctr"/>
          <a:lstStyle/>
          <a:p>
            <a:pPr marL="0" indent="0" algn="r">
              <a:buNone/>
            </a:pPr>
            <a:r>
              <a:rPr lang="en-US" sz="1000" dirty="0">
                <a:solidFill>
                  <a:srgbClr val="D4A017"/>
                </a:solidFill>
                <a:latin typeface="Arial" pitchFamily="34" charset="0"/>
                <a:ea typeface="Arial" pitchFamily="34" charset="-122"/>
                <a:cs typeface="Arial" pitchFamily="34" charset="-120"/>
              </a:rPr>
              <a:t>IDE + fast edits</a:t>
            </a:r>
            <a:endParaRPr lang="en-US" sz="1000" dirty="0"/>
          </a:p>
        </p:txBody>
      </p:sp>
      <p:sp>
        <p:nvSpPr>
          <p:cNvPr id="13" name="Text 11"/>
          <p:cNvSpPr/>
          <p:nvPr/>
        </p:nvSpPr>
        <p:spPr>
          <a:xfrm>
            <a:off x="4937760" y="1920240"/>
            <a:ext cx="3566160" cy="777240"/>
          </a:xfrm>
          <a:prstGeom prst="rect">
            <a:avLst/>
          </a:prstGeom>
          <a:noFill/>
          <a:ln/>
        </p:spPr>
        <p:txBody>
          <a:bodyPr wrap="square" lIns="0" tIns="0" rIns="0" bIns="0" rtlCol="0" anchor="ctr"/>
          <a:lstStyle/>
          <a:p>
            <a:pPr marL="0" indent="0">
              <a:buNone/>
            </a:pPr>
            <a:r>
              <a:rPr lang="en-US" sz="1100" dirty="0">
                <a:solidFill>
                  <a:srgbClr val="9B8E7A"/>
                </a:solidFill>
                <a:latin typeface="Arial" pitchFamily="34" charset="0"/>
                <a:ea typeface="Arial" pitchFamily="34" charset="-122"/>
                <a:cs typeface="Arial" pitchFamily="34" charset="-120"/>
              </a:rPr>
              <a:t>Our interface for everything. Composer for quick changes, terminal for git and localhost.</a:t>
            </a:r>
            <a:endParaRPr lang="en-US" sz="1100" dirty="0"/>
          </a:p>
        </p:txBody>
      </p:sp>
      <p:sp>
        <p:nvSpPr>
          <p:cNvPr id="14" name="Shape 12"/>
          <p:cNvSpPr/>
          <p:nvPr/>
        </p:nvSpPr>
        <p:spPr>
          <a:xfrm>
            <a:off x="548640" y="3108960"/>
            <a:ext cx="3931920" cy="141732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5" name="Shape 13"/>
          <p:cNvSpPr/>
          <p:nvPr/>
        </p:nvSpPr>
        <p:spPr>
          <a:xfrm>
            <a:off x="548640" y="3108960"/>
            <a:ext cx="54864" cy="1417320"/>
          </a:xfrm>
          <a:prstGeom prst="rect">
            <a:avLst/>
          </a:prstGeom>
          <a:solidFill>
            <a:srgbClr val="D4A017"/>
          </a:solidFill>
          <a:ln/>
        </p:spPr>
        <p:txBody>
          <a:bodyPr/>
          <a:lstStyle/>
          <a:p>
            <a:endParaRPr lang="en-GB"/>
          </a:p>
        </p:txBody>
      </p:sp>
      <p:sp>
        <p:nvSpPr>
          <p:cNvPr id="16" name="Text 14"/>
          <p:cNvSpPr/>
          <p:nvPr/>
        </p:nvSpPr>
        <p:spPr>
          <a:xfrm>
            <a:off x="731520" y="3200400"/>
            <a:ext cx="2011680" cy="320040"/>
          </a:xfrm>
          <a:prstGeom prst="rect">
            <a:avLst/>
          </a:prstGeom>
          <a:noFill/>
          <a:ln/>
        </p:spPr>
        <p:txBody>
          <a:bodyPr wrap="square" lIns="0" tIns="0" rIns="0" bIns="0" rtlCol="0" anchor="ctr"/>
          <a:lstStyle/>
          <a:p>
            <a:pPr marL="0" indent="0">
              <a:buNone/>
            </a:pPr>
            <a:r>
              <a:rPr lang="en-US" sz="1600" b="1" dirty="0">
                <a:solidFill>
                  <a:srgbClr val="F5E6C8"/>
                </a:solidFill>
                <a:latin typeface="Arial" pitchFamily="34" charset="0"/>
                <a:ea typeface="Arial" pitchFamily="34" charset="-122"/>
                <a:cs typeface="Arial" pitchFamily="34" charset="-120"/>
              </a:rPr>
              <a:t>Claude Code</a:t>
            </a:r>
            <a:endParaRPr lang="en-US" sz="1600" dirty="0"/>
          </a:p>
        </p:txBody>
      </p:sp>
      <p:sp>
        <p:nvSpPr>
          <p:cNvPr id="17" name="Text 15"/>
          <p:cNvSpPr/>
          <p:nvPr/>
        </p:nvSpPr>
        <p:spPr>
          <a:xfrm>
            <a:off x="2743200" y="3236976"/>
            <a:ext cx="1554480" cy="256032"/>
          </a:xfrm>
          <a:prstGeom prst="rect">
            <a:avLst/>
          </a:prstGeom>
          <a:noFill/>
          <a:ln/>
        </p:spPr>
        <p:txBody>
          <a:bodyPr wrap="square" lIns="0" tIns="0" rIns="0" bIns="0" rtlCol="0" anchor="ctr"/>
          <a:lstStyle/>
          <a:p>
            <a:pPr marL="0" indent="0" algn="r">
              <a:buNone/>
            </a:pPr>
            <a:r>
              <a:rPr lang="en-US" sz="1000" dirty="0">
                <a:solidFill>
                  <a:srgbClr val="D4A017"/>
                </a:solidFill>
                <a:latin typeface="Arial" pitchFamily="34" charset="0"/>
                <a:ea typeface="Arial" pitchFamily="34" charset="-122"/>
                <a:cs typeface="Arial" pitchFamily="34" charset="-120"/>
              </a:rPr>
              <a:t>Architecture + remote</a:t>
            </a:r>
            <a:endParaRPr lang="en-US" sz="1000" dirty="0"/>
          </a:p>
        </p:txBody>
      </p:sp>
      <p:sp>
        <p:nvSpPr>
          <p:cNvPr id="18" name="Text 16"/>
          <p:cNvSpPr/>
          <p:nvPr/>
        </p:nvSpPr>
        <p:spPr>
          <a:xfrm>
            <a:off x="731520" y="3611880"/>
            <a:ext cx="3566160" cy="777240"/>
          </a:xfrm>
          <a:prstGeom prst="rect">
            <a:avLst/>
          </a:prstGeom>
          <a:noFill/>
          <a:ln/>
        </p:spPr>
        <p:txBody>
          <a:bodyPr wrap="square" lIns="0" tIns="0" rIns="0" bIns="0" rtlCol="0" anchor="ctr"/>
          <a:lstStyle/>
          <a:p>
            <a:pPr marL="0" indent="0">
              <a:buNone/>
            </a:pPr>
            <a:r>
              <a:rPr lang="en-US" sz="1100" dirty="0">
                <a:solidFill>
                  <a:srgbClr val="9B8E7A"/>
                </a:solidFill>
                <a:latin typeface="Arial" pitchFamily="34" charset="0"/>
                <a:ea typeface="Arial" pitchFamily="34" charset="-122"/>
                <a:cs typeface="Arial" pitchFamily="34" charset="-120"/>
              </a:rPr>
              <a:t>Big planning, complex bugs, code consistency. Remote dispatch from the pub.</a:t>
            </a:r>
            <a:endParaRPr lang="en-US" sz="1100" dirty="0"/>
          </a:p>
        </p:txBody>
      </p:sp>
      <p:sp>
        <p:nvSpPr>
          <p:cNvPr id="19" name="Shape 17"/>
          <p:cNvSpPr/>
          <p:nvPr/>
        </p:nvSpPr>
        <p:spPr>
          <a:xfrm>
            <a:off x="4754880" y="3108960"/>
            <a:ext cx="3931920" cy="141732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20" name="Shape 18"/>
          <p:cNvSpPr/>
          <p:nvPr/>
        </p:nvSpPr>
        <p:spPr>
          <a:xfrm>
            <a:off x="4754880" y="3108960"/>
            <a:ext cx="54864" cy="1417320"/>
          </a:xfrm>
          <a:prstGeom prst="rect">
            <a:avLst/>
          </a:prstGeom>
          <a:solidFill>
            <a:srgbClr val="D4A017"/>
          </a:solidFill>
          <a:ln/>
        </p:spPr>
        <p:txBody>
          <a:bodyPr/>
          <a:lstStyle/>
          <a:p>
            <a:endParaRPr lang="en-GB"/>
          </a:p>
        </p:txBody>
      </p:sp>
      <p:sp>
        <p:nvSpPr>
          <p:cNvPr id="21" name="Text 19"/>
          <p:cNvSpPr/>
          <p:nvPr/>
        </p:nvSpPr>
        <p:spPr>
          <a:xfrm>
            <a:off x="4937760" y="3200400"/>
            <a:ext cx="2011680" cy="320040"/>
          </a:xfrm>
          <a:prstGeom prst="rect">
            <a:avLst/>
          </a:prstGeom>
          <a:noFill/>
          <a:ln/>
        </p:spPr>
        <p:txBody>
          <a:bodyPr wrap="square" lIns="0" tIns="0" rIns="0" bIns="0" rtlCol="0" anchor="ctr"/>
          <a:lstStyle/>
          <a:p>
            <a:pPr marL="0" indent="0">
              <a:buNone/>
            </a:pPr>
            <a:r>
              <a:rPr lang="en-US" sz="1600" b="1" dirty="0">
                <a:solidFill>
                  <a:srgbClr val="F5E6C8"/>
                </a:solidFill>
                <a:latin typeface="Arial" pitchFamily="34" charset="0"/>
                <a:ea typeface="Arial" pitchFamily="34" charset="-122"/>
                <a:cs typeface="Arial" pitchFamily="34" charset="-120"/>
              </a:rPr>
              <a:t>Codex</a:t>
            </a:r>
            <a:endParaRPr lang="en-US" sz="1600" dirty="0"/>
          </a:p>
        </p:txBody>
      </p:sp>
      <p:sp>
        <p:nvSpPr>
          <p:cNvPr id="22" name="Text 20"/>
          <p:cNvSpPr/>
          <p:nvPr/>
        </p:nvSpPr>
        <p:spPr>
          <a:xfrm>
            <a:off x="6949440" y="3236976"/>
            <a:ext cx="1554480" cy="256032"/>
          </a:xfrm>
          <a:prstGeom prst="rect">
            <a:avLst/>
          </a:prstGeom>
          <a:noFill/>
          <a:ln/>
        </p:spPr>
        <p:txBody>
          <a:bodyPr wrap="square" lIns="0" tIns="0" rIns="0" bIns="0" rtlCol="0" anchor="ctr"/>
          <a:lstStyle/>
          <a:p>
            <a:pPr marL="0" indent="0" algn="r">
              <a:buNone/>
            </a:pPr>
            <a:r>
              <a:rPr lang="en-US" sz="1000" dirty="0">
                <a:solidFill>
                  <a:srgbClr val="D4A017"/>
                </a:solidFill>
                <a:latin typeface="Arial" pitchFamily="34" charset="0"/>
                <a:ea typeface="Arial" pitchFamily="34" charset="-122"/>
                <a:cs typeface="Arial" pitchFamily="34" charset="-120"/>
              </a:rPr>
              <a:t>Heavy builds + testing</a:t>
            </a:r>
            <a:endParaRPr lang="en-US" sz="1000" dirty="0"/>
          </a:p>
        </p:txBody>
      </p:sp>
      <p:sp>
        <p:nvSpPr>
          <p:cNvPr id="23" name="Text 21"/>
          <p:cNvSpPr/>
          <p:nvPr/>
        </p:nvSpPr>
        <p:spPr>
          <a:xfrm>
            <a:off x="4937760" y="3611880"/>
            <a:ext cx="3566160" cy="777240"/>
          </a:xfrm>
          <a:prstGeom prst="rect">
            <a:avLst/>
          </a:prstGeom>
          <a:noFill/>
          <a:ln/>
        </p:spPr>
        <p:txBody>
          <a:bodyPr wrap="square" lIns="0" tIns="0" rIns="0" bIns="0" rtlCol="0" anchor="ctr"/>
          <a:lstStyle/>
          <a:p>
            <a:pPr marL="0" indent="0">
              <a:buNone/>
            </a:pPr>
            <a:r>
              <a:rPr lang="en-US" sz="1100" dirty="0">
                <a:solidFill>
                  <a:srgbClr val="9B8E7A"/>
                </a:solidFill>
                <a:latin typeface="Arial" pitchFamily="34" charset="0"/>
                <a:ea typeface="Arial" pitchFamily="34" charset="-122"/>
                <a:cs typeface="Arial" pitchFamily="34" charset="-120"/>
              </a:rPr>
              <a:t>Large refactors, agentic testing, bulk feature builds. Did the heavy lifting.</a:t>
            </a:r>
            <a:endParaRPr lang="en-US" sz="1100" dirty="0"/>
          </a:p>
        </p:txBody>
      </p:sp>
      <p:sp>
        <p:nvSpPr>
          <p:cNvPr id="24" name="Text 22"/>
          <p:cNvSpPr/>
          <p:nvPr/>
        </p:nvSpPr>
        <p:spPr>
          <a:xfrm>
            <a:off x="548640" y="4617720"/>
            <a:ext cx="8046720" cy="274320"/>
          </a:xfrm>
          <a:prstGeom prst="rect">
            <a:avLst/>
          </a:prstGeom>
          <a:noFill/>
          <a:ln/>
        </p:spPr>
        <p:txBody>
          <a:bodyPr wrap="square" rtlCol="0" anchor="ctr"/>
          <a:lstStyle/>
          <a:p>
            <a:pPr marL="0" indent="0">
              <a:buNone/>
            </a:pPr>
            <a:r>
              <a:rPr lang="en-US" sz="1100" i="1" dirty="0">
                <a:solidFill>
                  <a:srgbClr val="9B8E7A"/>
                </a:solidFill>
                <a:latin typeface="Georgia" pitchFamily="34" charset="0"/>
                <a:ea typeface="Georgia" pitchFamily="34" charset="-122"/>
                <a:cs typeface="Georgia" pitchFamily="34" charset="-120"/>
              </a:rPr>
              <a:t>Each tool has a sweet spot. The trick was learning which one to reach for.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v0 + VERCEL</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Design iteration and instant deploys.</a:t>
            </a:r>
            <a:endParaRPr lang="en-US" sz="2400" dirty="0"/>
          </a:p>
        </p:txBody>
      </p:sp>
      <p:sp>
        <p:nvSpPr>
          <p:cNvPr id="4" name="Text 2"/>
          <p:cNvSpPr/>
          <p:nvPr/>
        </p:nvSpPr>
        <p:spPr>
          <a:xfrm>
            <a:off x="548640" y="1371600"/>
            <a:ext cx="5029200" cy="3200400"/>
          </a:xfrm>
          <a:prstGeom prst="rect">
            <a:avLst/>
          </a:prstGeom>
          <a:noFill/>
          <a:ln/>
        </p:spPr>
        <p:txBody>
          <a:bodyPr wrap="square" lIns="0" tIns="0" rIns="0" bIns="0" rtlCol="0" anchor="ctr"/>
          <a:lstStyle/>
          <a:p>
            <a:pPr marL="0" indent="0">
              <a:buNone/>
            </a:pPr>
            <a:r>
              <a:rPr lang="en-US" sz="1150" dirty="0">
                <a:solidFill>
                  <a:srgbClr val="9B8E7A"/>
                </a:solidFill>
                <a:latin typeface="Arial" pitchFamily="34" charset="0"/>
                <a:ea typeface="Arial" pitchFamily="34" charset="-122"/>
                <a:cs typeface="Arial" pitchFamily="34" charset="-120"/>
              </a:rPr>
              <a:t>v0 handled our design exploration. We went through several directions before landing on the look — dark with gold accents, neobrutalist cards, the trophy-pint icon. v0 let us try layouts and component ideas without writing CSS from scratch.</a:t>
            </a:r>
            <a:endParaRPr lang="en-US" sz="1150" dirty="0"/>
          </a:p>
          <a:p>
            <a:pPr marL="0" indent="0">
              <a:buNone/>
            </a:pPr>
            <a:endParaRPr lang="en-US" sz="1150" dirty="0"/>
          </a:p>
          <a:p>
            <a:pPr marL="0" indent="0">
              <a:buNone/>
            </a:pPr>
            <a:r>
              <a:rPr lang="en-US" sz="1150" dirty="0">
                <a:solidFill>
                  <a:srgbClr val="9B8E7A"/>
                </a:solidFill>
                <a:latin typeface="Arial" pitchFamily="34" charset="0"/>
                <a:ea typeface="Arial" pitchFamily="34" charset="-122"/>
                <a:cs typeface="Arial" pitchFamily="34" charset="-120"/>
              </a:rPr>
              <a:t>We'd generate a direction, screenshot it, tweak it, regenerate. The speed meant we could explore ideas that would've taken hours to prototype by hand.</a:t>
            </a:r>
            <a:endParaRPr lang="en-US" sz="1150" dirty="0"/>
          </a:p>
          <a:p>
            <a:pPr marL="0" indent="0">
              <a:buNone/>
            </a:pPr>
            <a:endParaRPr lang="en-US" sz="1150" dirty="0"/>
          </a:p>
          <a:p>
            <a:pPr marL="0" indent="0">
              <a:buNone/>
            </a:pPr>
            <a:r>
              <a:rPr lang="en-US" sz="1150" dirty="0">
                <a:solidFill>
                  <a:srgbClr val="9B8E7A"/>
                </a:solidFill>
                <a:latin typeface="Arial" pitchFamily="34" charset="0"/>
                <a:ea typeface="Arial" pitchFamily="34" charset="-122"/>
                <a:cs typeface="Arial" pitchFamily="34" charset="-120"/>
              </a:rPr>
              <a:t>Vercel hosts the whole thing. Auto-deploy on push to main, preview deployments on branches. With v0 Pro the deploys are near-instant — push a commit, it's live in seconds. During the all-nighter that meant we could ship a fix, pull it up on our phones, and test immediately.</a:t>
            </a:r>
            <a:endParaRPr lang="en-US" sz="1150" dirty="0"/>
          </a:p>
        </p:txBody>
      </p:sp>
      <p:pic>
        <p:nvPicPr>
          <p:cNvPr id="5" name="Image 0" descr="preencoded.png"/>
          <p:cNvPicPr>
            <a:picLocks noChangeAspect="1"/>
          </p:cNvPicPr>
          <p:nvPr/>
        </p:nvPicPr>
        <p:blipFill>
          <a:blip r:embed="rId3"/>
          <a:srcRect/>
          <a:stretch/>
        </p:blipFill>
        <p:spPr>
          <a:xfrm>
            <a:off x="5943600" y="1280160"/>
            <a:ext cx="2743200" cy="3291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CURSOR</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Our IDE for when we actually need to read the code...</a:t>
            </a:r>
            <a:endParaRPr lang="en-US" sz="2400" dirty="0"/>
          </a:p>
        </p:txBody>
      </p:sp>
      <p:sp>
        <p:nvSpPr>
          <p:cNvPr id="4" name="Shape 2"/>
          <p:cNvSpPr/>
          <p:nvPr/>
        </p:nvSpPr>
        <p:spPr>
          <a:xfrm>
            <a:off x="548640" y="1417320"/>
            <a:ext cx="3931920" cy="13258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dirty="0"/>
          </a:p>
        </p:txBody>
      </p:sp>
      <p:sp>
        <p:nvSpPr>
          <p:cNvPr id="5" name="Shape 3"/>
          <p:cNvSpPr/>
          <p:nvPr/>
        </p:nvSpPr>
        <p:spPr>
          <a:xfrm>
            <a:off x="548640" y="1417320"/>
            <a:ext cx="54864" cy="1325880"/>
          </a:xfrm>
          <a:prstGeom prst="rect">
            <a:avLst/>
          </a:prstGeom>
          <a:solidFill>
            <a:srgbClr val="D4A017"/>
          </a:solidFill>
          <a:ln/>
        </p:spPr>
        <p:txBody>
          <a:bodyPr/>
          <a:lstStyle/>
          <a:p>
            <a:endParaRPr lang="en-GB"/>
          </a:p>
        </p:txBody>
      </p:sp>
      <p:sp>
        <p:nvSpPr>
          <p:cNvPr id="6" name="Text 4"/>
          <p:cNvSpPr/>
          <p:nvPr/>
        </p:nvSpPr>
        <p:spPr>
          <a:xfrm>
            <a:off x="731520" y="1490472"/>
            <a:ext cx="3566160" cy="274320"/>
          </a:xfrm>
          <a:prstGeom prst="rect">
            <a:avLst/>
          </a:prstGeom>
          <a:noFill/>
          <a:ln/>
        </p:spPr>
        <p:txBody>
          <a:bodyPr wrap="square" lIns="0" tIns="0" rIns="0" bIns="0" rtlCol="0" anchor="ctr"/>
          <a:lstStyle/>
          <a:p>
            <a:pPr marL="0" indent="0">
              <a:buNone/>
            </a:pPr>
            <a:r>
              <a:rPr lang="en-US" sz="1300" b="1" dirty="0">
                <a:solidFill>
                  <a:srgbClr val="F5E6C8"/>
                </a:solidFill>
                <a:latin typeface="Arial" pitchFamily="34" charset="0"/>
                <a:ea typeface="Arial" pitchFamily="34" charset="-122"/>
                <a:cs typeface="Arial" pitchFamily="34" charset="-120"/>
              </a:rPr>
              <a:t>Cursor as home base</a:t>
            </a:r>
            <a:endParaRPr lang="en-US" sz="1300" dirty="0"/>
          </a:p>
        </p:txBody>
      </p:sp>
      <p:sp>
        <p:nvSpPr>
          <p:cNvPr id="7" name="Text 5"/>
          <p:cNvSpPr/>
          <p:nvPr/>
        </p:nvSpPr>
        <p:spPr>
          <a:xfrm>
            <a:off x="731520" y="1801368"/>
            <a:ext cx="3566160" cy="822960"/>
          </a:xfrm>
          <a:prstGeom prst="rect">
            <a:avLst/>
          </a:prstGeom>
          <a:noFill/>
          <a:ln/>
        </p:spPr>
        <p:txBody>
          <a:bodyPr wrap="square" lIns="0" tIns="0" rIns="0" bIns="0" rtlCol="0" anchor="ctr"/>
          <a:lstStyle/>
          <a:p>
            <a:pPr marL="0" indent="0">
              <a:buNone/>
            </a:pPr>
            <a:r>
              <a:rPr lang="en-US" sz="1050" dirty="0">
                <a:solidFill>
                  <a:srgbClr val="9B8E7A"/>
                </a:solidFill>
                <a:latin typeface="Arial" pitchFamily="34" charset="0"/>
                <a:ea typeface="Arial" pitchFamily="34" charset="-122"/>
                <a:cs typeface="Arial" pitchFamily="34" charset="-120"/>
              </a:rPr>
              <a:t>Our primary interface. Easy file navigation, inline diffs, and the terminal right there for localhost dev and git commands.</a:t>
            </a:r>
            <a:endParaRPr lang="en-US" sz="1050" dirty="0"/>
          </a:p>
        </p:txBody>
      </p:sp>
      <p:sp>
        <p:nvSpPr>
          <p:cNvPr id="8" name="Shape 6"/>
          <p:cNvSpPr/>
          <p:nvPr/>
        </p:nvSpPr>
        <p:spPr>
          <a:xfrm>
            <a:off x="4754880" y="1417320"/>
            <a:ext cx="3931920" cy="13258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9" name="Shape 7"/>
          <p:cNvSpPr/>
          <p:nvPr/>
        </p:nvSpPr>
        <p:spPr>
          <a:xfrm>
            <a:off x="4754880" y="1417320"/>
            <a:ext cx="54864" cy="1325880"/>
          </a:xfrm>
          <a:prstGeom prst="rect">
            <a:avLst/>
          </a:prstGeom>
          <a:solidFill>
            <a:srgbClr val="D4A017"/>
          </a:solidFill>
          <a:ln/>
        </p:spPr>
        <p:txBody>
          <a:bodyPr/>
          <a:lstStyle/>
          <a:p>
            <a:endParaRPr lang="en-GB"/>
          </a:p>
        </p:txBody>
      </p:sp>
      <p:sp>
        <p:nvSpPr>
          <p:cNvPr id="10" name="Text 8"/>
          <p:cNvSpPr/>
          <p:nvPr/>
        </p:nvSpPr>
        <p:spPr>
          <a:xfrm>
            <a:off x="4937760" y="1490472"/>
            <a:ext cx="3566160" cy="274320"/>
          </a:xfrm>
          <a:prstGeom prst="rect">
            <a:avLst/>
          </a:prstGeom>
          <a:noFill/>
          <a:ln/>
        </p:spPr>
        <p:txBody>
          <a:bodyPr wrap="square" lIns="0" tIns="0" rIns="0" bIns="0" rtlCol="0" anchor="ctr"/>
          <a:lstStyle/>
          <a:p>
            <a:pPr marL="0" indent="0">
              <a:buNone/>
            </a:pPr>
            <a:r>
              <a:rPr lang="en-US" sz="1300" b="1" dirty="0">
                <a:solidFill>
                  <a:srgbClr val="F5E6C8"/>
                </a:solidFill>
                <a:latin typeface="Arial" pitchFamily="34" charset="0"/>
                <a:ea typeface="Arial" pitchFamily="34" charset="-122"/>
                <a:cs typeface="Arial" pitchFamily="34" charset="-120"/>
              </a:rPr>
              <a:t>Composer v2 for speed</a:t>
            </a:r>
            <a:endParaRPr lang="en-US" sz="1300" dirty="0"/>
          </a:p>
        </p:txBody>
      </p:sp>
      <p:sp>
        <p:nvSpPr>
          <p:cNvPr id="11" name="Text 9"/>
          <p:cNvSpPr/>
          <p:nvPr/>
        </p:nvSpPr>
        <p:spPr>
          <a:xfrm>
            <a:off x="4937760" y="1801368"/>
            <a:ext cx="3566160" cy="822960"/>
          </a:xfrm>
          <a:prstGeom prst="rect">
            <a:avLst/>
          </a:prstGeom>
          <a:noFill/>
          <a:ln/>
        </p:spPr>
        <p:txBody>
          <a:bodyPr wrap="square" lIns="0" tIns="0" rIns="0" bIns="0" rtlCol="0" anchor="ctr"/>
          <a:lstStyle/>
          <a:p>
            <a:pPr marL="0" indent="0">
              <a:buNone/>
            </a:pPr>
            <a:r>
              <a:rPr lang="en-US" sz="1050" dirty="0">
                <a:solidFill>
                  <a:srgbClr val="9B8E7A"/>
                </a:solidFill>
                <a:latin typeface="Arial" pitchFamily="34" charset="0"/>
                <a:ea typeface="Arial" pitchFamily="34" charset="-122"/>
                <a:cs typeface="Arial" pitchFamily="34" charset="-120"/>
              </a:rPr>
              <a:t>Lightning fast for simple stuff — renaming a component, changing a colour, finding a specific function, swapping a label. The fastest way to make small changes across multiple files.</a:t>
            </a:r>
            <a:endParaRPr lang="en-US" sz="1050" dirty="0"/>
          </a:p>
        </p:txBody>
      </p:sp>
      <p:sp>
        <p:nvSpPr>
          <p:cNvPr id="12" name="Shape 10"/>
          <p:cNvSpPr/>
          <p:nvPr/>
        </p:nvSpPr>
        <p:spPr>
          <a:xfrm>
            <a:off x="548640" y="2971800"/>
            <a:ext cx="3931920" cy="13258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3" name="Shape 11"/>
          <p:cNvSpPr/>
          <p:nvPr/>
        </p:nvSpPr>
        <p:spPr>
          <a:xfrm>
            <a:off x="548640" y="2971800"/>
            <a:ext cx="54864" cy="1325880"/>
          </a:xfrm>
          <a:prstGeom prst="rect">
            <a:avLst/>
          </a:prstGeom>
          <a:solidFill>
            <a:srgbClr val="D4A017"/>
          </a:solidFill>
          <a:ln/>
        </p:spPr>
        <p:txBody>
          <a:bodyPr/>
          <a:lstStyle/>
          <a:p>
            <a:endParaRPr lang="en-GB"/>
          </a:p>
        </p:txBody>
      </p:sp>
      <p:sp>
        <p:nvSpPr>
          <p:cNvPr id="14" name="Text 12"/>
          <p:cNvSpPr/>
          <p:nvPr/>
        </p:nvSpPr>
        <p:spPr>
          <a:xfrm>
            <a:off x="731520" y="3044952"/>
            <a:ext cx="3566160" cy="274320"/>
          </a:xfrm>
          <a:prstGeom prst="rect">
            <a:avLst/>
          </a:prstGeom>
          <a:noFill/>
          <a:ln/>
        </p:spPr>
        <p:txBody>
          <a:bodyPr wrap="square" lIns="0" tIns="0" rIns="0" bIns="0" rtlCol="0" anchor="ctr"/>
          <a:lstStyle/>
          <a:p>
            <a:pPr marL="0" indent="0">
              <a:buNone/>
            </a:pPr>
            <a:r>
              <a:rPr lang="en-US" sz="1300" b="1" dirty="0">
                <a:solidFill>
                  <a:srgbClr val="F5E6C8"/>
                </a:solidFill>
                <a:latin typeface="Arial" pitchFamily="34" charset="0"/>
                <a:ea typeface="Arial" pitchFamily="34" charset="-122"/>
                <a:cs typeface="Arial" pitchFamily="34" charset="-120"/>
              </a:rPr>
              <a:t>Claude Code from Cursor's terminal</a:t>
            </a:r>
            <a:endParaRPr lang="en-US" sz="1300" dirty="0"/>
          </a:p>
        </p:txBody>
      </p:sp>
      <p:sp>
        <p:nvSpPr>
          <p:cNvPr id="15" name="Text 13"/>
          <p:cNvSpPr/>
          <p:nvPr/>
        </p:nvSpPr>
        <p:spPr>
          <a:xfrm>
            <a:off x="731520" y="3355848"/>
            <a:ext cx="3566160" cy="822960"/>
          </a:xfrm>
          <a:prstGeom prst="rect">
            <a:avLst/>
          </a:prstGeom>
          <a:noFill/>
          <a:ln/>
        </p:spPr>
        <p:txBody>
          <a:bodyPr wrap="square" lIns="0" tIns="0" rIns="0" bIns="0" rtlCol="0" anchor="ctr"/>
          <a:lstStyle/>
          <a:p>
            <a:pPr marL="0" indent="0">
              <a:buNone/>
            </a:pPr>
            <a:r>
              <a:rPr lang="en-US" sz="1050" dirty="0">
                <a:solidFill>
                  <a:srgbClr val="9B8E7A"/>
                </a:solidFill>
                <a:latin typeface="Arial" pitchFamily="34" charset="0"/>
                <a:ea typeface="Arial" pitchFamily="34" charset="-122"/>
                <a:cs typeface="Arial" pitchFamily="34" charset="-120"/>
              </a:rPr>
              <a:t>Ran Claude Code sessions directly from the Cursor terminal. The IDE gave us full context while Claude handled the complex work.</a:t>
            </a:r>
            <a:endParaRPr lang="en-US" sz="1050" dirty="0"/>
          </a:p>
        </p:txBody>
      </p:sp>
      <p:sp>
        <p:nvSpPr>
          <p:cNvPr id="16" name="Shape 14"/>
          <p:cNvSpPr/>
          <p:nvPr/>
        </p:nvSpPr>
        <p:spPr>
          <a:xfrm>
            <a:off x="4754880" y="2971800"/>
            <a:ext cx="3931920" cy="13258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7" name="Shape 15"/>
          <p:cNvSpPr/>
          <p:nvPr/>
        </p:nvSpPr>
        <p:spPr>
          <a:xfrm>
            <a:off x="4754880" y="2971800"/>
            <a:ext cx="54864" cy="1325880"/>
          </a:xfrm>
          <a:prstGeom prst="rect">
            <a:avLst/>
          </a:prstGeom>
          <a:solidFill>
            <a:srgbClr val="D4A017"/>
          </a:solidFill>
          <a:ln/>
        </p:spPr>
        <p:txBody>
          <a:bodyPr/>
          <a:lstStyle/>
          <a:p>
            <a:endParaRPr lang="en-GB"/>
          </a:p>
        </p:txBody>
      </p:sp>
      <p:sp>
        <p:nvSpPr>
          <p:cNvPr id="18" name="Text 16"/>
          <p:cNvSpPr/>
          <p:nvPr/>
        </p:nvSpPr>
        <p:spPr>
          <a:xfrm>
            <a:off x="4937760" y="3044952"/>
            <a:ext cx="3566160" cy="274320"/>
          </a:xfrm>
          <a:prstGeom prst="rect">
            <a:avLst/>
          </a:prstGeom>
          <a:noFill/>
          <a:ln/>
        </p:spPr>
        <p:txBody>
          <a:bodyPr wrap="square" lIns="0" tIns="0" rIns="0" bIns="0" rtlCol="0" anchor="ctr"/>
          <a:lstStyle/>
          <a:p>
            <a:pPr marL="0" indent="0">
              <a:buNone/>
            </a:pPr>
            <a:r>
              <a:rPr lang="en-US" sz="1300" b="1" dirty="0">
                <a:solidFill>
                  <a:srgbClr val="F5E6C8"/>
                </a:solidFill>
                <a:latin typeface="Arial" pitchFamily="34" charset="0"/>
                <a:ea typeface="Arial" pitchFamily="34" charset="-122"/>
                <a:cs typeface="Arial" pitchFamily="34" charset="-120"/>
              </a:rPr>
              <a:t>Creating Context For Agents</a:t>
            </a:r>
            <a:endParaRPr lang="en-US" sz="1300" dirty="0"/>
          </a:p>
        </p:txBody>
      </p:sp>
      <p:sp>
        <p:nvSpPr>
          <p:cNvPr id="19" name="Text 17"/>
          <p:cNvSpPr/>
          <p:nvPr/>
        </p:nvSpPr>
        <p:spPr>
          <a:xfrm>
            <a:off x="4937760" y="3355848"/>
            <a:ext cx="3566160" cy="822960"/>
          </a:xfrm>
          <a:prstGeom prst="rect">
            <a:avLst/>
          </a:prstGeom>
          <a:noFill/>
          <a:ln/>
        </p:spPr>
        <p:txBody>
          <a:bodyPr wrap="square" lIns="0" tIns="0" rIns="0" bIns="0" rtlCol="0" anchor="ctr"/>
          <a:lstStyle/>
          <a:p>
            <a:pPr marL="0" indent="0">
              <a:buNone/>
            </a:pPr>
            <a:r>
              <a:rPr lang="en-US" sz="1050" dirty="0">
                <a:solidFill>
                  <a:srgbClr val="9B8E7A"/>
                </a:solidFill>
                <a:latin typeface="Arial" pitchFamily="34" charset="0"/>
                <a:ea typeface="Arial" pitchFamily="34" charset="-122"/>
                <a:cs typeface="Arial" pitchFamily="34" charset="-120"/>
              </a:rPr>
              <a:t>Being able to highlight code, reference files, and give Composer context about what you're looking at — that's what makes it fast. It's not just autocomplete, it's a conversation with your codebase.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CLAUDE CODE</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The architect. The planner. The one we trusted to run unsupervised.</a:t>
            </a:r>
            <a:endParaRPr lang="en-US" sz="2400" dirty="0"/>
          </a:p>
        </p:txBody>
      </p:sp>
      <p:sp>
        <p:nvSpPr>
          <p:cNvPr id="4" name="Text 2"/>
          <p:cNvSpPr/>
          <p:nvPr/>
        </p:nvSpPr>
        <p:spPr>
          <a:xfrm>
            <a:off x="548640" y="1371600"/>
            <a:ext cx="4846320" cy="3200400"/>
          </a:xfrm>
          <a:prstGeom prst="rect">
            <a:avLst/>
          </a:prstGeom>
          <a:noFill/>
          <a:ln/>
        </p:spPr>
        <p:txBody>
          <a:bodyPr wrap="square" lIns="0" tIns="0" rIns="0" bIns="0" rtlCol="0" anchor="ctr"/>
          <a:lstStyle/>
          <a:p>
            <a:pPr marL="0" indent="0">
              <a:buNone/>
            </a:pPr>
            <a:r>
              <a:rPr lang="en-US" sz="1100" dirty="0">
                <a:solidFill>
                  <a:srgbClr val="9B8E7A"/>
                </a:solidFill>
                <a:latin typeface="Arial" pitchFamily="34" charset="0"/>
                <a:ea typeface="Arial" pitchFamily="34" charset="-122"/>
                <a:cs typeface="Arial" pitchFamily="34" charset="-120"/>
              </a:rPr>
              <a:t>Opus was a workhorse fixing bugs and adding features, but the value came when we could dispatch Claude remotely. From the pub to the kebab shop and trust it to make the right changes without us watching every line.</a:t>
            </a:r>
            <a:endParaRPr lang="en-US" sz="1100" dirty="0"/>
          </a:p>
          <a:p>
            <a:pPr marL="0" indent="0">
              <a:buNone/>
            </a:pP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Claude also did our planning. Before handing work to Codex, Claude would break it down into clear tasks, design the approach, and scope what needed to happen. That planning layer is what made the whole multi-agent workflow work.</a:t>
            </a:r>
            <a:endParaRPr lang="en-US" sz="1100" dirty="0"/>
          </a:p>
        </p:txBody>
      </p:sp>
      <p:pic>
        <p:nvPicPr>
          <p:cNvPr id="5" name="Image 0" descr="preencoded.png"/>
          <p:cNvPicPr>
            <a:picLocks noChangeAspect="1"/>
          </p:cNvPicPr>
          <p:nvPr/>
        </p:nvPicPr>
        <p:blipFill>
          <a:blip r:embed="rId3"/>
          <a:srcRect/>
          <a:stretch/>
        </p:blipFill>
        <p:spPr>
          <a:xfrm>
            <a:off x="5760720" y="1280160"/>
            <a:ext cx="2926080" cy="3291840"/>
          </a:xfrm>
          <a:prstGeom prst="rect">
            <a:avLst/>
          </a:prstGeom>
        </p:spPr>
      </p:pic>
      <p:sp>
        <p:nvSpPr>
          <p:cNvPr id="6" name="Text 3"/>
          <p:cNvSpPr/>
          <p:nvPr/>
        </p:nvSpPr>
        <p:spPr>
          <a:xfrm>
            <a:off x="5760720" y="4617720"/>
            <a:ext cx="2926080" cy="274320"/>
          </a:xfrm>
          <a:prstGeom prst="rect">
            <a:avLst/>
          </a:prstGeom>
          <a:noFill/>
          <a:ln/>
        </p:spPr>
        <p:txBody>
          <a:bodyPr wrap="square" rtlCol="0" anchor="ctr"/>
          <a:lstStyle/>
          <a:p>
            <a:pPr marL="0" indent="0" algn="ctr">
              <a:buNone/>
            </a:pPr>
            <a:r>
              <a:rPr lang="en-US" sz="900" dirty="0">
                <a:solidFill>
                  <a:srgbClr val="9B8E7A"/>
                </a:solidFill>
                <a:latin typeface="Arial" pitchFamily="34" charset="0"/>
                <a:ea typeface="Arial" pitchFamily="34" charset="-122"/>
                <a:cs typeface="Arial" pitchFamily="34" charset="-120"/>
              </a:rPr>
              <a:t>Dispatching Claude Code from the bar, pint in hand.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CODEX</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The workforce. Large builds, agentic testing, and three agents we owe a drink.</a:t>
            </a:r>
            <a:endParaRPr lang="en-US" sz="2400" dirty="0"/>
          </a:p>
        </p:txBody>
      </p:sp>
      <p:sp>
        <p:nvSpPr>
          <p:cNvPr id="4" name="Text 2"/>
          <p:cNvSpPr/>
          <p:nvPr/>
        </p:nvSpPr>
        <p:spPr>
          <a:xfrm>
            <a:off x="548640" y="1371600"/>
            <a:ext cx="4572000" cy="3200400"/>
          </a:xfrm>
          <a:prstGeom prst="rect">
            <a:avLst/>
          </a:prstGeom>
          <a:noFill/>
          <a:ln/>
        </p:spPr>
        <p:txBody>
          <a:bodyPr wrap="square" lIns="0" tIns="0" rIns="0" bIns="0" rtlCol="0" anchor="ctr"/>
          <a:lstStyle/>
          <a:p>
            <a:pPr marL="0" indent="0">
              <a:buNone/>
            </a:pPr>
            <a:r>
              <a:rPr lang="en-US" sz="1100" dirty="0">
                <a:solidFill>
                  <a:srgbClr val="9B8E7A"/>
                </a:solidFill>
                <a:latin typeface="Arial" pitchFamily="34" charset="0"/>
                <a:ea typeface="Arial" pitchFamily="34" charset="-122"/>
                <a:cs typeface="Arial" pitchFamily="34" charset="-120"/>
              </a:rPr>
              <a:t>Codex did a huge chunk of the heavy coding. The DB v2 migration, major feature builds, integration testing — anything that was clearly scoped and needed executing.</a:t>
            </a:r>
            <a:endParaRPr lang="en-US" sz="1100" dirty="0"/>
          </a:p>
          <a:p>
            <a:pPr marL="0" indent="0">
              <a:buNone/>
            </a:pP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The workflow: Claude plans, we review the plan, Codex builds it. Clear handoff, clean results.</a:t>
            </a:r>
            <a:endParaRPr lang="en-US" sz="1100" dirty="0"/>
          </a:p>
          <a:p>
            <a:pPr marL="0" indent="0">
              <a:buNone/>
            </a:pP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Codex also ran agentic testing — spawning sub-agents to explore the codebase, review changes, and do UX passes. On one run it created three explorer agents: Dalton, Rawls, and Zeno. They inspected the backend, reviewed frontend changes, and ran a mobile UX audit — all in parallel.</a:t>
            </a:r>
            <a:endParaRPr lang="en-US" sz="1100" dirty="0"/>
          </a:p>
          <a:p>
            <a:pPr marL="0" indent="0">
              <a:buNone/>
            </a:pP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Shoutout to Dalton, Rawls, and Zeno. We owe them a pint.</a:t>
            </a:r>
            <a:endParaRPr lang="en-US" sz="1100" dirty="0"/>
          </a:p>
        </p:txBody>
      </p:sp>
      <p:pic>
        <p:nvPicPr>
          <p:cNvPr id="5" name="Image 0" descr="preencoded.png"/>
          <p:cNvPicPr>
            <a:picLocks noChangeAspect="1"/>
          </p:cNvPicPr>
          <p:nvPr/>
        </p:nvPicPr>
        <p:blipFill>
          <a:blip r:embed="rId3"/>
          <a:srcRect/>
          <a:stretch/>
        </p:blipFill>
        <p:spPr>
          <a:xfrm>
            <a:off x="5303520" y="1280160"/>
            <a:ext cx="3474720" cy="3291840"/>
          </a:xfrm>
          <a:prstGeom prst="rect">
            <a:avLst/>
          </a:prstGeom>
        </p:spPr>
      </p:pic>
      <p:sp>
        <p:nvSpPr>
          <p:cNvPr id="6" name="Text 3"/>
          <p:cNvSpPr/>
          <p:nvPr/>
        </p:nvSpPr>
        <p:spPr>
          <a:xfrm>
            <a:off x="5303520" y="4617720"/>
            <a:ext cx="3474720" cy="274320"/>
          </a:xfrm>
          <a:prstGeom prst="rect">
            <a:avLst/>
          </a:prstGeom>
          <a:noFill/>
          <a:ln/>
        </p:spPr>
        <p:txBody>
          <a:bodyPr wrap="square" rtlCol="0" anchor="ctr"/>
          <a:lstStyle/>
          <a:p>
            <a:pPr marL="0" indent="0" algn="ctr">
              <a:buNone/>
            </a:pPr>
            <a:r>
              <a:rPr lang="en-US" sz="900" dirty="0">
                <a:solidFill>
                  <a:srgbClr val="9B8E7A"/>
                </a:solidFill>
                <a:latin typeface="Arial" pitchFamily="34" charset="0"/>
                <a:ea typeface="Arial" pitchFamily="34" charset="-122"/>
                <a:cs typeface="Arial" pitchFamily="34" charset="-120"/>
              </a:rPr>
              <a:t>Codex spawning Dalton, Rawls, and Zeno to review the codebase in parallel.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SKILLS &amp; MCPs</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Plugged in specialised capabilities on demand.</a:t>
            </a:r>
            <a:endParaRPr lang="en-US" sz="2400" dirty="0"/>
          </a:p>
        </p:txBody>
      </p:sp>
      <p:sp>
        <p:nvSpPr>
          <p:cNvPr id="4" name="Shape 2"/>
          <p:cNvSpPr/>
          <p:nvPr/>
        </p:nvSpPr>
        <p:spPr>
          <a:xfrm>
            <a:off x="548640" y="1417320"/>
            <a:ext cx="3931920" cy="301752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5" name="Shape 3"/>
          <p:cNvSpPr/>
          <p:nvPr/>
        </p:nvSpPr>
        <p:spPr>
          <a:xfrm>
            <a:off x="548640" y="1417320"/>
            <a:ext cx="3931920" cy="54864"/>
          </a:xfrm>
          <a:prstGeom prst="rect">
            <a:avLst/>
          </a:prstGeom>
          <a:solidFill>
            <a:srgbClr val="D4A017"/>
          </a:solidFill>
          <a:ln/>
        </p:spPr>
        <p:txBody>
          <a:bodyPr/>
          <a:lstStyle/>
          <a:p>
            <a:endParaRPr lang="en-GB"/>
          </a:p>
        </p:txBody>
      </p:sp>
      <p:sp>
        <p:nvSpPr>
          <p:cNvPr id="6" name="Text 4"/>
          <p:cNvSpPr/>
          <p:nvPr/>
        </p:nvSpPr>
        <p:spPr>
          <a:xfrm>
            <a:off x="731520" y="1554480"/>
            <a:ext cx="3566160" cy="365760"/>
          </a:xfrm>
          <a:prstGeom prst="rect">
            <a:avLst/>
          </a:prstGeom>
          <a:noFill/>
          <a:ln/>
        </p:spPr>
        <p:txBody>
          <a:bodyPr wrap="square" lIns="0" tIns="0" rIns="0" bIns="0" rtlCol="0" anchor="ctr"/>
          <a:lstStyle/>
          <a:p>
            <a:pPr marL="0" indent="0">
              <a:buNone/>
            </a:pPr>
            <a:r>
              <a:rPr lang="en-US" sz="1600" b="1" dirty="0">
                <a:solidFill>
                  <a:srgbClr val="F5E6C8"/>
                </a:solidFill>
                <a:latin typeface="Arial" pitchFamily="34" charset="0"/>
                <a:ea typeface="Arial" pitchFamily="34" charset="-122"/>
                <a:cs typeface="Arial" pitchFamily="34" charset="-120"/>
              </a:rPr>
              <a:t>Skills</a:t>
            </a:r>
            <a:endParaRPr lang="en-US" sz="1600" dirty="0"/>
          </a:p>
        </p:txBody>
      </p:sp>
      <p:sp>
        <p:nvSpPr>
          <p:cNvPr id="7" name="Text 5"/>
          <p:cNvSpPr/>
          <p:nvPr/>
        </p:nvSpPr>
        <p:spPr>
          <a:xfrm>
            <a:off x="731520" y="1920240"/>
            <a:ext cx="3566160" cy="365760"/>
          </a:xfrm>
          <a:prstGeom prst="rect">
            <a:avLst/>
          </a:prstGeom>
          <a:noFill/>
          <a:ln/>
        </p:spPr>
        <p:txBody>
          <a:bodyPr wrap="square" lIns="0" tIns="0" rIns="0" bIns="0" rtlCol="0" anchor="ctr"/>
          <a:lstStyle/>
          <a:p>
            <a:pPr marL="0" indent="0">
              <a:buNone/>
            </a:pPr>
            <a:r>
              <a:rPr lang="en-US" sz="1000" dirty="0">
                <a:solidFill>
                  <a:srgbClr val="9B8E7A"/>
                </a:solidFill>
                <a:latin typeface="Arial" pitchFamily="34" charset="0"/>
                <a:ea typeface="Arial" pitchFamily="34" charset="-122"/>
                <a:cs typeface="Arial" pitchFamily="34" charset="-120"/>
              </a:rPr>
              <a:t>Specialised instruction sets that give Claude deep expertise in specific domains.</a:t>
            </a:r>
            <a:endParaRPr lang="en-US" sz="1000" dirty="0"/>
          </a:p>
        </p:txBody>
      </p:sp>
      <p:sp>
        <p:nvSpPr>
          <p:cNvPr id="8" name="Shape 6"/>
          <p:cNvSpPr/>
          <p:nvPr/>
        </p:nvSpPr>
        <p:spPr>
          <a:xfrm>
            <a:off x="777240" y="2432304"/>
            <a:ext cx="73152" cy="73152"/>
          </a:xfrm>
          <a:prstGeom prst="ellipse">
            <a:avLst/>
          </a:prstGeom>
          <a:solidFill>
            <a:srgbClr val="D4A017"/>
          </a:solidFill>
          <a:ln/>
        </p:spPr>
        <p:txBody>
          <a:bodyPr/>
          <a:lstStyle/>
          <a:p>
            <a:endParaRPr lang="en-GB"/>
          </a:p>
        </p:txBody>
      </p:sp>
      <p:sp>
        <p:nvSpPr>
          <p:cNvPr id="9" name="Text 7"/>
          <p:cNvSpPr/>
          <p:nvPr/>
        </p:nvSpPr>
        <p:spPr>
          <a:xfrm>
            <a:off x="960120" y="2377440"/>
            <a:ext cx="1463040" cy="274320"/>
          </a:xfrm>
          <a:prstGeom prst="rect">
            <a:avLst/>
          </a:prstGeom>
          <a:noFill/>
          <a:ln/>
        </p:spPr>
        <p:txBody>
          <a:bodyPr wrap="square" lIns="0" tIns="0" rIns="0" bIns="0" rtlCol="0" anchor="ctr"/>
          <a:lstStyle/>
          <a:p>
            <a:pPr marL="0" indent="0">
              <a:buNone/>
            </a:pPr>
            <a:r>
              <a:rPr lang="en-US" sz="1100" b="1" dirty="0">
                <a:solidFill>
                  <a:srgbClr val="F5E6C8"/>
                </a:solidFill>
                <a:latin typeface="Arial" pitchFamily="34" charset="0"/>
                <a:ea typeface="Arial" pitchFamily="34" charset="-122"/>
                <a:cs typeface="Arial" pitchFamily="34" charset="-120"/>
              </a:rPr>
              <a:t>frontend-design</a:t>
            </a:r>
            <a:endParaRPr lang="en-US" sz="1100" dirty="0"/>
          </a:p>
        </p:txBody>
      </p:sp>
      <p:sp>
        <p:nvSpPr>
          <p:cNvPr id="10" name="Text 8"/>
          <p:cNvSpPr/>
          <p:nvPr/>
        </p:nvSpPr>
        <p:spPr>
          <a:xfrm>
            <a:off x="2468880" y="2377440"/>
            <a:ext cx="1920240" cy="274320"/>
          </a:xfrm>
          <a:prstGeom prst="rect">
            <a:avLst/>
          </a:prstGeom>
          <a:noFill/>
          <a:ln/>
        </p:spPr>
        <p:txBody>
          <a:bodyPr wrap="square" lIns="0" tIns="0" rIns="0" bIns="0" rtlCol="0" anchor="ctr"/>
          <a:lstStyle/>
          <a:p>
            <a:pPr marL="0" indent="0">
              <a:buNone/>
            </a:pPr>
            <a:r>
              <a:rPr lang="en-US" sz="1000" dirty="0">
                <a:solidFill>
                  <a:srgbClr val="9B8E7A"/>
                </a:solidFill>
                <a:latin typeface="Arial" pitchFamily="34" charset="0"/>
                <a:ea typeface="Arial" pitchFamily="34" charset="-122"/>
                <a:cs typeface="Arial" pitchFamily="34" charset="-120"/>
              </a:rPr>
              <a:t>Production-grade UI with high design quality</a:t>
            </a:r>
            <a:endParaRPr lang="en-US" sz="1000" dirty="0"/>
          </a:p>
        </p:txBody>
      </p:sp>
      <p:sp>
        <p:nvSpPr>
          <p:cNvPr id="11" name="Shape 9"/>
          <p:cNvSpPr/>
          <p:nvPr/>
        </p:nvSpPr>
        <p:spPr>
          <a:xfrm>
            <a:off x="777240" y="2798064"/>
            <a:ext cx="73152" cy="73152"/>
          </a:xfrm>
          <a:prstGeom prst="ellipse">
            <a:avLst/>
          </a:prstGeom>
          <a:solidFill>
            <a:srgbClr val="D4A017"/>
          </a:solidFill>
          <a:ln/>
        </p:spPr>
        <p:txBody>
          <a:bodyPr/>
          <a:lstStyle/>
          <a:p>
            <a:endParaRPr lang="en-GB"/>
          </a:p>
        </p:txBody>
      </p:sp>
      <p:sp>
        <p:nvSpPr>
          <p:cNvPr id="12" name="Text 10"/>
          <p:cNvSpPr/>
          <p:nvPr/>
        </p:nvSpPr>
        <p:spPr>
          <a:xfrm>
            <a:off x="960120" y="2743200"/>
            <a:ext cx="1463040" cy="274320"/>
          </a:xfrm>
          <a:prstGeom prst="rect">
            <a:avLst/>
          </a:prstGeom>
          <a:noFill/>
          <a:ln/>
        </p:spPr>
        <p:txBody>
          <a:bodyPr wrap="square" lIns="0" tIns="0" rIns="0" bIns="0" rtlCol="0" anchor="ctr"/>
          <a:lstStyle/>
          <a:p>
            <a:pPr marL="0" indent="0">
              <a:buNone/>
            </a:pPr>
            <a:r>
              <a:rPr lang="en-US" sz="1100" b="1" dirty="0">
                <a:solidFill>
                  <a:srgbClr val="F5E6C8"/>
                </a:solidFill>
                <a:latin typeface="Arial" pitchFamily="34" charset="0"/>
                <a:ea typeface="Arial" pitchFamily="34" charset="-122"/>
                <a:cs typeface="Arial" pitchFamily="34" charset="-120"/>
              </a:rPr>
              <a:t>supabase</a:t>
            </a:r>
            <a:endParaRPr lang="en-US" sz="1100" dirty="0"/>
          </a:p>
        </p:txBody>
      </p:sp>
      <p:sp>
        <p:nvSpPr>
          <p:cNvPr id="13" name="Text 11"/>
          <p:cNvSpPr/>
          <p:nvPr/>
        </p:nvSpPr>
        <p:spPr>
          <a:xfrm>
            <a:off x="2468880" y="2743200"/>
            <a:ext cx="1920240" cy="274320"/>
          </a:xfrm>
          <a:prstGeom prst="rect">
            <a:avLst/>
          </a:prstGeom>
          <a:noFill/>
          <a:ln/>
        </p:spPr>
        <p:txBody>
          <a:bodyPr wrap="square" lIns="0" tIns="0" rIns="0" bIns="0" rtlCol="0" anchor="ctr"/>
          <a:lstStyle/>
          <a:p>
            <a:pPr marL="0" indent="0">
              <a:buNone/>
            </a:pPr>
            <a:r>
              <a:rPr lang="en-US" sz="1000" dirty="0">
                <a:solidFill>
                  <a:srgbClr val="9B8E7A"/>
                </a:solidFill>
                <a:latin typeface="Arial" pitchFamily="34" charset="0"/>
                <a:ea typeface="Arial" pitchFamily="34" charset="-122"/>
                <a:cs typeface="Arial" pitchFamily="34" charset="-120"/>
              </a:rPr>
              <a:t>Database best practices, RLS, schema design</a:t>
            </a:r>
            <a:endParaRPr lang="en-US" sz="1000" dirty="0"/>
          </a:p>
        </p:txBody>
      </p:sp>
      <p:sp>
        <p:nvSpPr>
          <p:cNvPr id="14" name="Shape 12"/>
          <p:cNvSpPr/>
          <p:nvPr/>
        </p:nvSpPr>
        <p:spPr>
          <a:xfrm>
            <a:off x="777240" y="3163824"/>
            <a:ext cx="73152" cy="73152"/>
          </a:xfrm>
          <a:prstGeom prst="ellipse">
            <a:avLst/>
          </a:prstGeom>
          <a:solidFill>
            <a:srgbClr val="D4A017"/>
          </a:solidFill>
          <a:ln/>
        </p:spPr>
        <p:txBody>
          <a:bodyPr/>
          <a:lstStyle/>
          <a:p>
            <a:endParaRPr lang="en-GB"/>
          </a:p>
        </p:txBody>
      </p:sp>
      <p:sp>
        <p:nvSpPr>
          <p:cNvPr id="15" name="Text 13"/>
          <p:cNvSpPr/>
          <p:nvPr/>
        </p:nvSpPr>
        <p:spPr>
          <a:xfrm>
            <a:off x="960120" y="3108960"/>
            <a:ext cx="1463040" cy="274320"/>
          </a:xfrm>
          <a:prstGeom prst="rect">
            <a:avLst/>
          </a:prstGeom>
          <a:noFill/>
          <a:ln/>
        </p:spPr>
        <p:txBody>
          <a:bodyPr wrap="square" lIns="0" tIns="0" rIns="0" bIns="0" rtlCol="0" anchor="ctr"/>
          <a:lstStyle/>
          <a:p>
            <a:pPr marL="0" indent="0">
              <a:buNone/>
            </a:pPr>
            <a:r>
              <a:rPr lang="en-US" sz="1100" b="1" dirty="0">
                <a:solidFill>
                  <a:srgbClr val="F5E6C8"/>
                </a:solidFill>
                <a:latin typeface="Arial" pitchFamily="34" charset="0"/>
                <a:ea typeface="Arial" pitchFamily="34" charset="-122"/>
                <a:cs typeface="Arial" pitchFamily="34" charset="-120"/>
              </a:rPr>
              <a:t>postgres</a:t>
            </a:r>
            <a:endParaRPr lang="en-US" sz="1100" dirty="0"/>
          </a:p>
        </p:txBody>
      </p:sp>
      <p:sp>
        <p:nvSpPr>
          <p:cNvPr id="16" name="Text 14"/>
          <p:cNvSpPr/>
          <p:nvPr/>
        </p:nvSpPr>
        <p:spPr>
          <a:xfrm>
            <a:off x="2468880" y="3108960"/>
            <a:ext cx="1920240" cy="274320"/>
          </a:xfrm>
          <a:prstGeom prst="rect">
            <a:avLst/>
          </a:prstGeom>
          <a:noFill/>
          <a:ln/>
        </p:spPr>
        <p:txBody>
          <a:bodyPr wrap="square" lIns="0" tIns="0" rIns="0" bIns="0" rtlCol="0" anchor="ctr"/>
          <a:lstStyle/>
          <a:p>
            <a:pPr marL="0" indent="0">
              <a:buNone/>
            </a:pPr>
            <a:r>
              <a:rPr lang="en-US" sz="1000" dirty="0">
                <a:solidFill>
                  <a:srgbClr val="9B8E7A"/>
                </a:solidFill>
                <a:latin typeface="Arial" pitchFamily="34" charset="0"/>
                <a:ea typeface="Arial" pitchFamily="34" charset="-122"/>
                <a:cs typeface="Arial" pitchFamily="34" charset="-120"/>
              </a:rPr>
              <a:t>Query optimisation, indexing, performance</a:t>
            </a:r>
            <a:endParaRPr lang="en-US" sz="1000" dirty="0"/>
          </a:p>
        </p:txBody>
      </p:sp>
      <p:sp>
        <p:nvSpPr>
          <p:cNvPr id="17" name="Shape 15"/>
          <p:cNvSpPr/>
          <p:nvPr/>
        </p:nvSpPr>
        <p:spPr>
          <a:xfrm>
            <a:off x="777240" y="3529584"/>
            <a:ext cx="73152" cy="73152"/>
          </a:xfrm>
          <a:prstGeom prst="ellipse">
            <a:avLst/>
          </a:prstGeom>
          <a:solidFill>
            <a:srgbClr val="D4A017"/>
          </a:solidFill>
          <a:ln/>
        </p:spPr>
        <p:txBody>
          <a:bodyPr/>
          <a:lstStyle/>
          <a:p>
            <a:endParaRPr lang="en-GB"/>
          </a:p>
        </p:txBody>
      </p:sp>
      <p:sp>
        <p:nvSpPr>
          <p:cNvPr id="18" name="Text 16"/>
          <p:cNvSpPr/>
          <p:nvPr/>
        </p:nvSpPr>
        <p:spPr>
          <a:xfrm>
            <a:off x="960120" y="3474720"/>
            <a:ext cx="1463040" cy="274320"/>
          </a:xfrm>
          <a:prstGeom prst="rect">
            <a:avLst/>
          </a:prstGeom>
          <a:noFill/>
          <a:ln/>
        </p:spPr>
        <p:txBody>
          <a:bodyPr wrap="square" lIns="0" tIns="0" rIns="0" bIns="0" rtlCol="0" anchor="ctr"/>
          <a:lstStyle/>
          <a:p>
            <a:pPr marL="0" indent="0">
              <a:buNone/>
            </a:pPr>
            <a:r>
              <a:rPr lang="en-US" sz="1100" b="1" dirty="0">
                <a:solidFill>
                  <a:srgbClr val="F5E6C8"/>
                </a:solidFill>
                <a:latin typeface="Arial" pitchFamily="34" charset="0"/>
                <a:ea typeface="Arial" pitchFamily="34" charset="-122"/>
                <a:cs typeface="Arial" pitchFamily="34" charset="-120"/>
              </a:rPr>
              <a:t>webapp-testing</a:t>
            </a:r>
            <a:endParaRPr lang="en-US" sz="1100" dirty="0"/>
          </a:p>
        </p:txBody>
      </p:sp>
      <p:sp>
        <p:nvSpPr>
          <p:cNvPr id="19" name="Text 17"/>
          <p:cNvSpPr/>
          <p:nvPr/>
        </p:nvSpPr>
        <p:spPr>
          <a:xfrm>
            <a:off x="2468880" y="3474720"/>
            <a:ext cx="1920240" cy="274320"/>
          </a:xfrm>
          <a:prstGeom prst="rect">
            <a:avLst/>
          </a:prstGeom>
          <a:noFill/>
          <a:ln/>
        </p:spPr>
        <p:txBody>
          <a:bodyPr wrap="square" lIns="0" tIns="0" rIns="0" bIns="0" rtlCol="0" anchor="ctr"/>
          <a:lstStyle/>
          <a:p>
            <a:pPr marL="0" indent="0">
              <a:buNone/>
            </a:pPr>
            <a:r>
              <a:rPr lang="en-US" sz="1000" dirty="0">
                <a:solidFill>
                  <a:srgbClr val="9B8E7A"/>
                </a:solidFill>
                <a:latin typeface="Arial" pitchFamily="34" charset="0"/>
                <a:ea typeface="Arial" pitchFamily="34" charset="-122"/>
                <a:cs typeface="Arial" pitchFamily="34" charset="-120"/>
              </a:rPr>
              <a:t>Integration tests, edge cases, coverage</a:t>
            </a:r>
            <a:endParaRPr lang="en-US" sz="1000" dirty="0"/>
          </a:p>
        </p:txBody>
      </p:sp>
      <p:sp>
        <p:nvSpPr>
          <p:cNvPr id="20" name="Shape 18"/>
          <p:cNvSpPr/>
          <p:nvPr/>
        </p:nvSpPr>
        <p:spPr>
          <a:xfrm>
            <a:off x="777240" y="3895344"/>
            <a:ext cx="73152" cy="73152"/>
          </a:xfrm>
          <a:prstGeom prst="ellipse">
            <a:avLst/>
          </a:prstGeom>
          <a:solidFill>
            <a:srgbClr val="D4A017"/>
          </a:solidFill>
          <a:ln/>
        </p:spPr>
        <p:txBody>
          <a:bodyPr/>
          <a:lstStyle/>
          <a:p>
            <a:endParaRPr lang="en-GB"/>
          </a:p>
        </p:txBody>
      </p:sp>
      <p:sp>
        <p:nvSpPr>
          <p:cNvPr id="21" name="Text 19"/>
          <p:cNvSpPr/>
          <p:nvPr/>
        </p:nvSpPr>
        <p:spPr>
          <a:xfrm>
            <a:off x="960120" y="3840480"/>
            <a:ext cx="1463040" cy="274320"/>
          </a:xfrm>
          <a:prstGeom prst="rect">
            <a:avLst/>
          </a:prstGeom>
          <a:noFill/>
          <a:ln/>
        </p:spPr>
        <p:txBody>
          <a:bodyPr wrap="square" lIns="0" tIns="0" rIns="0" bIns="0" rtlCol="0" anchor="ctr"/>
          <a:lstStyle/>
          <a:p>
            <a:pPr marL="0" indent="0">
              <a:buNone/>
            </a:pPr>
            <a:r>
              <a:rPr lang="en-US" sz="1100" b="1" dirty="0">
                <a:solidFill>
                  <a:srgbClr val="F5E6C8"/>
                </a:solidFill>
                <a:latin typeface="Arial" pitchFamily="34" charset="0"/>
                <a:ea typeface="Arial" pitchFamily="34" charset="-122"/>
                <a:cs typeface="Arial" pitchFamily="34" charset="-120"/>
              </a:rPr>
              <a:t>algorithmic-art</a:t>
            </a:r>
            <a:endParaRPr lang="en-US" sz="1100" dirty="0"/>
          </a:p>
        </p:txBody>
      </p:sp>
      <p:sp>
        <p:nvSpPr>
          <p:cNvPr id="22" name="Text 20"/>
          <p:cNvSpPr/>
          <p:nvPr/>
        </p:nvSpPr>
        <p:spPr>
          <a:xfrm>
            <a:off x="2468880" y="3840480"/>
            <a:ext cx="1920240" cy="274320"/>
          </a:xfrm>
          <a:prstGeom prst="rect">
            <a:avLst/>
          </a:prstGeom>
          <a:noFill/>
          <a:ln/>
        </p:spPr>
        <p:txBody>
          <a:bodyPr wrap="square" lIns="0" tIns="0" rIns="0" bIns="0" rtlCol="0" anchor="ctr"/>
          <a:lstStyle/>
          <a:p>
            <a:pPr marL="0" indent="0">
              <a:buNone/>
            </a:pPr>
            <a:r>
              <a:rPr lang="en-US" sz="1000" dirty="0">
                <a:solidFill>
                  <a:srgbClr val="9B8E7A"/>
                </a:solidFill>
                <a:latin typeface="Arial" pitchFamily="34" charset="0"/>
                <a:ea typeface="Arial" pitchFamily="34" charset="-122"/>
                <a:cs typeface="Arial" pitchFamily="34" charset="-120"/>
              </a:rPr>
              <a:t>Generated visual assets and patterns</a:t>
            </a:r>
            <a:endParaRPr lang="en-US" sz="1000" dirty="0"/>
          </a:p>
        </p:txBody>
      </p:sp>
      <p:sp>
        <p:nvSpPr>
          <p:cNvPr id="23" name="Shape 21"/>
          <p:cNvSpPr/>
          <p:nvPr/>
        </p:nvSpPr>
        <p:spPr>
          <a:xfrm>
            <a:off x="4663440" y="1417320"/>
            <a:ext cx="3931920" cy="301752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24" name="Shape 22"/>
          <p:cNvSpPr/>
          <p:nvPr/>
        </p:nvSpPr>
        <p:spPr>
          <a:xfrm>
            <a:off x="4663440" y="1417320"/>
            <a:ext cx="3931920" cy="54864"/>
          </a:xfrm>
          <a:prstGeom prst="rect">
            <a:avLst/>
          </a:prstGeom>
          <a:solidFill>
            <a:srgbClr val="D4A017"/>
          </a:solidFill>
          <a:ln/>
        </p:spPr>
        <p:txBody>
          <a:bodyPr/>
          <a:lstStyle/>
          <a:p>
            <a:endParaRPr lang="en-GB"/>
          </a:p>
        </p:txBody>
      </p:sp>
      <p:sp>
        <p:nvSpPr>
          <p:cNvPr id="25" name="Text 23"/>
          <p:cNvSpPr/>
          <p:nvPr/>
        </p:nvSpPr>
        <p:spPr>
          <a:xfrm>
            <a:off x="4846320" y="1554480"/>
            <a:ext cx="3566160" cy="365760"/>
          </a:xfrm>
          <a:prstGeom prst="rect">
            <a:avLst/>
          </a:prstGeom>
          <a:noFill/>
          <a:ln/>
        </p:spPr>
        <p:txBody>
          <a:bodyPr wrap="square" lIns="0" tIns="0" rIns="0" bIns="0" rtlCol="0" anchor="ctr"/>
          <a:lstStyle/>
          <a:p>
            <a:pPr marL="0" indent="0">
              <a:buNone/>
            </a:pPr>
            <a:r>
              <a:rPr lang="en-US" sz="1600" b="1" dirty="0">
                <a:solidFill>
                  <a:srgbClr val="F5E6C8"/>
                </a:solidFill>
                <a:latin typeface="Arial" pitchFamily="34" charset="0"/>
                <a:ea typeface="Arial" pitchFamily="34" charset="-122"/>
                <a:cs typeface="Arial" pitchFamily="34" charset="-120"/>
              </a:rPr>
              <a:t>MCPs</a:t>
            </a:r>
            <a:endParaRPr lang="en-US" sz="1600" dirty="0"/>
          </a:p>
        </p:txBody>
      </p:sp>
      <p:sp>
        <p:nvSpPr>
          <p:cNvPr id="26" name="Text 24"/>
          <p:cNvSpPr/>
          <p:nvPr/>
        </p:nvSpPr>
        <p:spPr>
          <a:xfrm>
            <a:off x="4846320" y="1920240"/>
            <a:ext cx="3566160" cy="365760"/>
          </a:xfrm>
          <a:prstGeom prst="rect">
            <a:avLst/>
          </a:prstGeom>
          <a:noFill/>
          <a:ln/>
        </p:spPr>
        <p:txBody>
          <a:bodyPr wrap="square" lIns="0" tIns="0" rIns="0" bIns="0" rtlCol="0" anchor="ctr"/>
          <a:lstStyle/>
          <a:p>
            <a:pPr marL="0" indent="0">
              <a:buNone/>
            </a:pPr>
            <a:r>
              <a:rPr lang="en-US" sz="1000" dirty="0">
                <a:solidFill>
                  <a:srgbClr val="9B8E7A"/>
                </a:solidFill>
                <a:latin typeface="Arial" pitchFamily="34" charset="0"/>
                <a:ea typeface="Arial" pitchFamily="34" charset="-122"/>
                <a:cs typeface="Arial" pitchFamily="34" charset="-120"/>
              </a:rPr>
              <a:t>Model Context Protocol servers — live connections to external tools and services.</a:t>
            </a:r>
            <a:endParaRPr lang="en-US" sz="1000" dirty="0"/>
          </a:p>
        </p:txBody>
      </p:sp>
      <p:sp>
        <p:nvSpPr>
          <p:cNvPr id="27" name="Shape 25"/>
          <p:cNvSpPr/>
          <p:nvPr/>
        </p:nvSpPr>
        <p:spPr>
          <a:xfrm>
            <a:off x="4892040" y="2432304"/>
            <a:ext cx="73152" cy="73152"/>
          </a:xfrm>
          <a:prstGeom prst="ellipse">
            <a:avLst/>
          </a:prstGeom>
          <a:solidFill>
            <a:srgbClr val="D4A017"/>
          </a:solidFill>
          <a:ln/>
        </p:spPr>
        <p:txBody>
          <a:bodyPr/>
          <a:lstStyle/>
          <a:p>
            <a:endParaRPr lang="en-GB"/>
          </a:p>
        </p:txBody>
      </p:sp>
      <p:sp>
        <p:nvSpPr>
          <p:cNvPr id="28" name="Text 26"/>
          <p:cNvSpPr/>
          <p:nvPr/>
        </p:nvSpPr>
        <p:spPr>
          <a:xfrm>
            <a:off x="5074920" y="2377440"/>
            <a:ext cx="1463040" cy="274320"/>
          </a:xfrm>
          <a:prstGeom prst="rect">
            <a:avLst/>
          </a:prstGeom>
          <a:noFill/>
          <a:ln/>
        </p:spPr>
        <p:txBody>
          <a:bodyPr wrap="square" lIns="0" tIns="0" rIns="0" bIns="0" rtlCol="0" anchor="ctr"/>
          <a:lstStyle/>
          <a:p>
            <a:pPr marL="0" indent="0">
              <a:buNone/>
            </a:pPr>
            <a:r>
              <a:rPr lang="en-US" sz="1100" b="1" dirty="0">
                <a:solidFill>
                  <a:srgbClr val="F5E6C8"/>
                </a:solidFill>
                <a:latin typeface="Arial" pitchFamily="34" charset="0"/>
                <a:ea typeface="Arial" pitchFamily="34" charset="-122"/>
                <a:cs typeface="Arial" pitchFamily="34" charset="-120"/>
              </a:rPr>
              <a:t>Supabase MCP</a:t>
            </a:r>
            <a:endParaRPr lang="en-US" sz="1100" dirty="0"/>
          </a:p>
        </p:txBody>
      </p:sp>
      <p:sp>
        <p:nvSpPr>
          <p:cNvPr id="29" name="Text 27"/>
          <p:cNvSpPr/>
          <p:nvPr/>
        </p:nvSpPr>
        <p:spPr>
          <a:xfrm>
            <a:off x="6583680" y="2377440"/>
            <a:ext cx="1920240" cy="274320"/>
          </a:xfrm>
          <a:prstGeom prst="rect">
            <a:avLst/>
          </a:prstGeom>
          <a:noFill/>
          <a:ln/>
        </p:spPr>
        <p:txBody>
          <a:bodyPr wrap="square" lIns="0" tIns="0" rIns="0" bIns="0" rtlCol="0" anchor="ctr"/>
          <a:lstStyle/>
          <a:p>
            <a:pPr marL="0" indent="0">
              <a:buNone/>
            </a:pPr>
            <a:r>
              <a:rPr lang="en-US" sz="1000" dirty="0">
                <a:solidFill>
                  <a:srgbClr val="9B8E7A"/>
                </a:solidFill>
                <a:latin typeface="Arial" pitchFamily="34" charset="0"/>
                <a:ea typeface="Arial" pitchFamily="34" charset="-122"/>
                <a:cs typeface="Arial" pitchFamily="34" charset="-120"/>
              </a:rPr>
              <a:t>Direct database access, migrations, schema inspection</a:t>
            </a:r>
            <a:endParaRPr lang="en-US" sz="1000" dirty="0"/>
          </a:p>
        </p:txBody>
      </p:sp>
      <p:sp>
        <p:nvSpPr>
          <p:cNvPr id="30" name="Shape 28"/>
          <p:cNvSpPr/>
          <p:nvPr/>
        </p:nvSpPr>
        <p:spPr>
          <a:xfrm>
            <a:off x="4892040" y="2798064"/>
            <a:ext cx="73152" cy="73152"/>
          </a:xfrm>
          <a:prstGeom prst="ellipse">
            <a:avLst/>
          </a:prstGeom>
          <a:solidFill>
            <a:srgbClr val="D4A017"/>
          </a:solidFill>
          <a:ln/>
        </p:spPr>
        <p:txBody>
          <a:bodyPr/>
          <a:lstStyle/>
          <a:p>
            <a:endParaRPr lang="en-GB"/>
          </a:p>
        </p:txBody>
      </p:sp>
      <p:sp>
        <p:nvSpPr>
          <p:cNvPr id="31" name="Text 29"/>
          <p:cNvSpPr/>
          <p:nvPr/>
        </p:nvSpPr>
        <p:spPr>
          <a:xfrm>
            <a:off x="5074920" y="2743200"/>
            <a:ext cx="1463040" cy="274320"/>
          </a:xfrm>
          <a:prstGeom prst="rect">
            <a:avLst/>
          </a:prstGeom>
          <a:noFill/>
          <a:ln/>
        </p:spPr>
        <p:txBody>
          <a:bodyPr wrap="square" lIns="0" tIns="0" rIns="0" bIns="0" rtlCol="0" anchor="ctr"/>
          <a:lstStyle/>
          <a:p>
            <a:pPr marL="0" indent="0">
              <a:buNone/>
            </a:pPr>
            <a:r>
              <a:rPr lang="en-US" sz="1100" b="1" dirty="0">
                <a:solidFill>
                  <a:srgbClr val="F5E6C8"/>
                </a:solidFill>
                <a:latin typeface="Arial" pitchFamily="34" charset="0"/>
                <a:ea typeface="Arial" pitchFamily="34" charset="-122"/>
                <a:cs typeface="Arial" pitchFamily="34" charset="-120"/>
              </a:rPr>
              <a:t>Vercel MCP</a:t>
            </a:r>
            <a:endParaRPr lang="en-US" sz="1100" dirty="0"/>
          </a:p>
        </p:txBody>
      </p:sp>
      <p:sp>
        <p:nvSpPr>
          <p:cNvPr id="32" name="Text 30"/>
          <p:cNvSpPr/>
          <p:nvPr/>
        </p:nvSpPr>
        <p:spPr>
          <a:xfrm>
            <a:off x="6583680" y="2743200"/>
            <a:ext cx="1920240" cy="274320"/>
          </a:xfrm>
          <a:prstGeom prst="rect">
            <a:avLst/>
          </a:prstGeom>
          <a:noFill/>
          <a:ln/>
        </p:spPr>
        <p:txBody>
          <a:bodyPr wrap="square" lIns="0" tIns="0" rIns="0" bIns="0" rtlCol="0" anchor="ctr"/>
          <a:lstStyle/>
          <a:p>
            <a:pPr marL="0" indent="0">
              <a:buNone/>
            </a:pPr>
            <a:r>
              <a:rPr lang="en-US" sz="1000" dirty="0">
                <a:solidFill>
                  <a:srgbClr val="9B8E7A"/>
                </a:solidFill>
                <a:latin typeface="Arial" pitchFamily="34" charset="0"/>
                <a:ea typeface="Arial" pitchFamily="34" charset="-122"/>
                <a:cs typeface="Arial" pitchFamily="34" charset="-120"/>
              </a:rPr>
              <a:t>Deployment status, preview URLs, build logs</a:t>
            </a:r>
            <a:endParaRPr lang="en-US" sz="1000" dirty="0"/>
          </a:p>
        </p:txBody>
      </p:sp>
      <p:sp>
        <p:nvSpPr>
          <p:cNvPr id="33" name="Text 31"/>
          <p:cNvSpPr/>
          <p:nvPr/>
        </p:nvSpPr>
        <p:spPr>
          <a:xfrm>
            <a:off x="548640" y="4617720"/>
            <a:ext cx="8046720" cy="320040"/>
          </a:xfrm>
          <a:prstGeom prst="rect">
            <a:avLst/>
          </a:prstGeom>
          <a:noFill/>
          <a:ln/>
        </p:spPr>
        <p:txBody>
          <a:bodyPr wrap="square" rtlCol="0" anchor="ctr"/>
          <a:lstStyle/>
          <a:p>
            <a:pPr marL="0" indent="0">
              <a:buNone/>
            </a:pPr>
            <a:r>
              <a:rPr lang="en-US" sz="1100" i="1" dirty="0">
                <a:solidFill>
                  <a:srgbClr val="9B8E7A"/>
                </a:solidFill>
                <a:latin typeface="Georgia" pitchFamily="34" charset="0"/>
                <a:ea typeface="Georgia" pitchFamily="34" charset="-122"/>
                <a:cs typeface="Georgia" pitchFamily="34" charset="-120"/>
              </a:rPr>
              <a:t>Skills give AI expertise. MCPs give AI access. Together they turn a general-purpose model into a specialised dev partner.</a:t>
            </a:r>
            <a:endParaRPr lang="en-US" sz="1100" dirty="0"/>
          </a:p>
        </p:txBody>
      </p:sp>
      <p:sp>
        <p:nvSpPr>
          <p:cNvPr id="35" name="Text 30">
            <a:extLst>
              <a:ext uri="{FF2B5EF4-FFF2-40B4-BE49-F238E27FC236}">
                <a16:creationId xmlns:a16="http://schemas.microsoft.com/office/drawing/2014/main" id="{0B772818-E5BE-5C0D-349E-C923E22B8B8F}"/>
              </a:ext>
            </a:extLst>
          </p:cNvPr>
          <p:cNvSpPr/>
          <p:nvPr/>
        </p:nvSpPr>
        <p:spPr>
          <a:xfrm>
            <a:off x="6583680" y="3224908"/>
            <a:ext cx="1920240" cy="274320"/>
          </a:xfrm>
          <a:prstGeom prst="rect">
            <a:avLst/>
          </a:prstGeom>
          <a:noFill/>
          <a:ln/>
        </p:spPr>
        <p:txBody>
          <a:bodyPr wrap="square" lIns="0" tIns="0" rIns="0" bIns="0" rtlCol="0" anchor="ctr"/>
          <a:lstStyle/>
          <a:p>
            <a:pPr marL="0" indent="0">
              <a:buNone/>
            </a:pPr>
            <a:r>
              <a:rPr lang="en-US" sz="1000" dirty="0">
                <a:solidFill>
                  <a:srgbClr val="9B8E7A"/>
                </a:solidFill>
                <a:latin typeface="Arial" pitchFamily="34" charset="0"/>
                <a:ea typeface="Arial" pitchFamily="34" charset="-122"/>
                <a:cs typeface="Arial" pitchFamily="34" charset="-120"/>
              </a:rPr>
              <a:t>Rapid agentic testing of our interface to find bugs and improve user flows</a:t>
            </a:r>
            <a:endParaRPr lang="en-US" sz="1000" dirty="0"/>
          </a:p>
        </p:txBody>
      </p:sp>
      <p:sp>
        <p:nvSpPr>
          <p:cNvPr id="36" name="Shape 28">
            <a:extLst>
              <a:ext uri="{FF2B5EF4-FFF2-40B4-BE49-F238E27FC236}">
                <a16:creationId xmlns:a16="http://schemas.microsoft.com/office/drawing/2014/main" id="{9354619E-2FAE-C195-B1C6-DFF3DEA32136}"/>
              </a:ext>
            </a:extLst>
          </p:cNvPr>
          <p:cNvSpPr/>
          <p:nvPr/>
        </p:nvSpPr>
        <p:spPr>
          <a:xfrm>
            <a:off x="4892040" y="3211686"/>
            <a:ext cx="73152" cy="73152"/>
          </a:xfrm>
          <a:prstGeom prst="ellipse">
            <a:avLst/>
          </a:prstGeom>
          <a:solidFill>
            <a:srgbClr val="D4A017"/>
          </a:solidFill>
          <a:ln/>
        </p:spPr>
        <p:txBody>
          <a:bodyPr/>
          <a:lstStyle/>
          <a:p>
            <a:endParaRPr lang="en-GB"/>
          </a:p>
        </p:txBody>
      </p:sp>
      <p:sp>
        <p:nvSpPr>
          <p:cNvPr id="37" name="Text 29">
            <a:extLst>
              <a:ext uri="{FF2B5EF4-FFF2-40B4-BE49-F238E27FC236}">
                <a16:creationId xmlns:a16="http://schemas.microsoft.com/office/drawing/2014/main" id="{B93C9FF4-91C3-BFEE-14C5-4484AC9D2A26}"/>
              </a:ext>
            </a:extLst>
          </p:cNvPr>
          <p:cNvSpPr/>
          <p:nvPr/>
        </p:nvSpPr>
        <p:spPr>
          <a:xfrm>
            <a:off x="5074920" y="3156822"/>
            <a:ext cx="1463040" cy="274320"/>
          </a:xfrm>
          <a:prstGeom prst="rect">
            <a:avLst/>
          </a:prstGeom>
          <a:noFill/>
          <a:ln/>
        </p:spPr>
        <p:txBody>
          <a:bodyPr wrap="square" lIns="0" tIns="0" rIns="0" bIns="0" rtlCol="0" anchor="ctr"/>
          <a:lstStyle/>
          <a:p>
            <a:pPr marL="0" indent="0">
              <a:buNone/>
            </a:pPr>
            <a:r>
              <a:rPr lang="en-US" sz="1100" b="1" dirty="0">
                <a:solidFill>
                  <a:srgbClr val="F5E6C8"/>
                </a:solidFill>
                <a:latin typeface="Arial" pitchFamily="34" charset="0"/>
                <a:ea typeface="Arial" pitchFamily="34" charset="-122"/>
                <a:cs typeface="Arial" pitchFamily="34" charset="-120"/>
              </a:rPr>
              <a:t>Playwright MCP</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DESIGNED FOR THE PUB</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Three modes. One goal: usable at night without blinding anyone.</a:t>
            </a:r>
            <a:endParaRPr lang="en-US" sz="2400" dirty="0"/>
          </a:p>
        </p:txBody>
      </p:sp>
      <p:pic>
        <p:nvPicPr>
          <p:cNvPr id="4" name="Image 0" descr="preencoded.png"/>
          <p:cNvPicPr>
            <a:picLocks noChangeAspect="1"/>
          </p:cNvPicPr>
          <p:nvPr/>
        </p:nvPicPr>
        <p:blipFill>
          <a:blip r:embed="rId3"/>
          <a:srcRect/>
          <a:stretch/>
        </p:blipFill>
        <p:spPr>
          <a:xfrm>
            <a:off x="320040" y="1234440"/>
            <a:ext cx="2651760" cy="2743200"/>
          </a:xfrm>
          <a:prstGeom prst="rect">
            <a:avLst/>
          </a:prstGeom>
        </p:spPr>
      </p:pic>
      <p:sp>
        <p:nvSpPr>
          <p:cNvPr id="5" name="Text 2"/>
          <p:cNvSpPr/>
          <p:nvPr/>
        </p:nvSpPr>
        <p:spPr>
          <a:xfrm>
            <a:off x="320040" y="4114800"/>
            <a:ext cx="2651760" cy="274320"/>
          </a:xfrm>
          <a:prstGeom prst="rect">
            <a:avLst/>
          </a:prstGeom>
          <a:noFill/>
          <a:ln/>
        </p:spPr>
        <p:txBody>
          <a:bodyPr wrap="square" lIns="0" tIns="0" rIns="0" bIns="0" rtlCol="0" anchor="ctr"/>
          <a:lstStyle/>
          <a:p>
            <a:pPr marL="0" indent="0" algn="ctr">
              <a:buNone/>
            </a:pPr>
            <a:r>
              <a:rPr lang="en-US" sz="1300" b="1" dirty="0">
                <a:solidFill>
                  <a:srgbClr val="F5E6C8"/>
                </a:solidFill>
                <a:latin typeface="Arial" pitchFamily="34" charset="0"/>
                <a:ea typeface="Arial" pitchFamily="34" charset="-122"/>
                <a:cs typeface="Arial" pitchFamily="34" charset="-120"/>
              </a:rPr>
              <a:t>Light Mode</a:t>
            </a:r>
            <a:endParaRPr lang="en-US" sz="1300" dirty="0"/>
          </a:p>
        </p:txBody>
      </p:sp>
      <p:sp>
        <p:nvSpPr>
          <p:cNvPr id="6" name="Text 3"/>
          <p:cNvSpPr/>
          <p:nvPr/>
        </p:nvSpPr>
        <p:spPr>
          <a:xfrm>
            <a:off x="320040" y="4389120"/>
            <a:ext cx="2651760" cy="502920"/>
          </a:xfrm>
          <a:prstGeom prst="rect">
            <a:avLst/>
          </a:prstGeom>
          <a:noFill/>
          <a:ln/>
        </p:spPr>
        <p:txBody>
          <a:bodyPr wrap="square" lIns="0" tIns="0" rIns="0" bIns="0" rtlCol="0" anchor="ctr"/>
          <a:lstStyle/>
          <a:p>
            <a:pPr marL="0" indent="0" algn="ctr">
              <a:buNone/>
            </a:pPr>
            <a:r>
              <a:rPr lang="en-US" sz="950" dirty="0">
                <a:solidFill>
                  <a:srgbClr val="9B8E7A"/>
                </a:solidFill>
                <a:latin typeface="Arial" pitchFamily="34" charset="0"/>
                <a:ea typeface="Arial" pitchFamily="34" charset="-122"/>
                <a:cs typeface="Arial" pitchFamily="34" charset="-120"/>
              </a:rPr>
              <a:t>Clean and readable.</a:t>
            </a:r>
            <a:endParaRPr lang="en-US" sz="950" dirty="0"/>
          </a:p>
          <a:p>
            <a:pPr marL="0" indent="0" algn="ctr">
              <a:buNone/>
            </a:pPr>
            <a:r>
              <a:rPr lang="en-US" sz="950" dirty="0">
                <a:solidFill>
                  <a:srgbClr val="9B8E7A"/>
                </a:solidFill>
                <a:latin typeface="Arial" pitchFamily="34" charset="0"/>
                <a:ea typeface="Arial" pitchFamily="34" charset="-122"/>
                <a:cs typeface="Arial" pitchFamily="34" charset="-120"/>
              </a:rPr>
              <a:t>Good in well-lit spaces.</a:t>
            </a:r>
            <a:endParaRPr lang="en-US" sz="950" dirty="0"/>
          </a:p>
        </p:txBody>
      </p:sp>
      <p:pic>
        <p:nvPicPr>
          <p:cNvPr id="7" name="Image 1" descr="preencoded.png"/>
          <p:cNvPicPr>
            <a:picLocks noChangeAspect="1"/>
          </p:cNvPicPr>
          <p:nvPr/>
        </p:nvPicPr>
        <p:blipFill>
          <a:blip r:embed="rId4"/>
          <a:srcRect/>
          <a:stretch/>
        </p:blipFill>
        <p:spPr>
          <a:xfrm>
            <a:off x="3246120" y="1234440"/>
            <a:ext cx="2651760" cy="2743200"/>
          </a:xfrm>
          <a:prstGeom prst="rect">
            <a:avLst/>
          </a:prstGeom>
        </p:spPr>
      </p:pic>
      <p:sp>
        <p:nvSpPr>
          <p:cNvPr id="8" name="Shape 4"/>
          <p:cNvSpPr/>
          <p:nvPr/>
        </p:nvSpPr>
        <p:spPr>
          <a:xfrm>
            <a:off x="3200400" y="4023360"/>
            <a:ext cx="2743200" cy="36576"/>
          </a:xfrm>
          <a:prstGeom prst="rect">
            <a:avLst/>
          </a:prstGeom>
          <a:solidFill>
            <a:srgbClr val="D4A017"/>
          </a:solidFill>
          <a:ln/>
        </p:spPr>
        <p:txBody>
          <a:bodyPr/>
          <a:lstStyle/>
          <a:p>
            <a:endParaRPr lang="en-GB"/>
          </a:p>
        </p:txBody>
      </p:sp>
      <p:sp>
        <p:nvSpPr>
          <p:cNvPr id="9" name="Text 5"/>
          <p:cNvSpPr/>
          <p:nvPr/>
        </p:nvSpPr>
        <p:spPr>
          <a:xfrm>
            <a:off x="3246120" y="4114800"/>
            <a:ext cx="2651760" cy="274320"/>
          </a:xfrm>
          <a:prstGeom prst="rect">
            <a:avLst/>
          </a:prstGeom>
          <a:noFill/>
          <a:ln/>
        </p:spPr>
        <p:txBody>
          <a:bodyPr wrap="square" lIns="0" tIns="0" rIns="0" bIns="0" rtlCol="0" anchor="ctr"/>
          <a:lstStyle/>
          <a:p>
            <a:pPr marL="0" indent="0" algn="ctr">
              <a:buNone/>
            </a:pPr>
            <a:r>
              <a:rPr lang="en-US" sz="1300" b="1" dirty="0">
                <a:solidFill>
                  <a:srgbClr val="D4A017"/>
                </a:solidFill>
                <a:latin typeface="Arial" pitchFamily="34" charset="0"/>
                <a:ea typeface="Arial" pitchFamily="34" charset="-122"/>
                <a:cs typeface="Arial" pitchFamily="34" charset="-120"/>
              </a:rPr>
              <a:t>Classic Mode</a:t>
            </a:r>
            <a:endParaRPr lang="en-US" sz="1300" dirty="0"/>
          </a:p>
        </p:txBody>
      </p:sp>
      <p:sp>
        <p:nvSpPr>
          <p:cNvPr id="10" name="Text 6"/>
          <p:cNvSpPr/>
          <p:nvPr/>
        </p:nvSpPr>
        <p:spPr>
          <a:xfrm>
            <a:off x="3246120" y="4389120"/>
            <a:ext cx="2651760" cy="502920"/>
          </a:xfrm>
          <a:prstGeom prst="rect">
            <a:avLst/>
          </a:prstGeom>
          <a:noFill/>
          <a:ln/>
        </p:spPr>
        <p:txBody>
          <a:bodyPr wrap="square" lIns="0" tIns="0" rIns="0" bIns="0" rtlCol="0" anchor="ctr"/>
          <a:lstStyle/>
          <a:p>
            <a:pPr marL="0" indent="0" algn="ctr">
              <a:buNone/>
            </a:pPr>
            <a:r>
              <a:rPr lang="en-US" sz="950" dirty="0">
                <a:solidFill>
                  <a:srgbClr val="9B8E7A"/>
                </a:solidFill>
                <a:latin typeface="Arial" pitchFamily="34" charset="0"/>
                <a:ea typeface="Arial" pitchFamily="34" charset="-122"/>
                <a:cs typeface="Arial" pitchFamily="34" charset="-120"/>
              </a:rPr>
              <a:t>Our default. Warm blend</a:t>
            </a:r>
            <a:endParaRPr lang="en-US" sz="950" dirty="0"/>
          </a:p>
          <a:p>
            <a:pPr marL="0" indent="0" algn="ctr">
              <a:buNone/>
            </a:pPr>
            <a:r>
              <a:rPr lang="en-US" sz="950" dirty="0">
                <a:solidFill>
                  <a:srgbClr val="9B8E7A"/>
                </a:solidFill>
                <a:latin typeface="Arial" pitchFamily="34" charset="0"/>
                <a:ea typeface="Arial" pitchFamily="34" charset="-122"/>
                <a:cs typeface="Arial" pitchFamily="34" charset="-120"/>
              </a:rPr>
              <a:t>of both — the sweet spot.</a:t>
            </a:r>
            <a:endParaRPr lang="en-US" sz="950" dirty="0"/>
          </a:p>
        </p:txBody>
      </p:sp>
      <p:pic>
        <p:nvPicPr>
          <p:cNvPr id="11" name="Image 2" descr="preencoded.png"/>
          <p:cNvPicPr>
            <a:picLocks noChangeAspect="1"/>
          </p:cNvPicPr>
          <p:nvPr/>
        </p:nvPicPr>
        <p:blipFill>
          <a:blip r:embed="rId5"/>
          <a:srcRect/>
          <a:stretch/>
        </p:blipFill>
        <p:spPr>
          <a:xfrm>
            <a:off x="6172200" y="1234440"/>
            <a:ext cx="2651760" cy="2743200"/>
          </a:xfrm>
          <a:prstGeom prst="rect">
            <a:avLst/>
          </a:prstGeom>
        </p:spPr>
      </p:pic>
      <p:sp>
        <p:nvSpPr>
          <p:cNvPr id="12" name="Text 7"/>
          <p:cNvSpPr/>
          <p:nvPr/>
        </p:nvSpPr>
        <p:spPr>
          <a:xfrm>
            <a:off x="6172200" y="4114800"/>
            <a:ext cx="2651760" cy="274320"/>
          </a:xfrm>
          <a:prstGeom prst="rect">
            <a:avLst/>
          </a:prstGeom>
          <a:noFill/>
          <a:ln/>
        </p:spPr>
        <p:txBody>
          <a:bodyPr wrap="square" lIns="0" tIns="0" rIns="0" bIns="0" rtlCol="0" anchor="ctr"/>
          <a:lstStyle/>
          <a:p>
            <a:pPr marL="0" indent="0" algn="ctr">
              <a:buNone/>
            </a:pPr>
            <a:r>
              <a:rPr lang="en-US" sz="1300" b="1" dirty="0">
                <a:solidFill>
                  <a:srgbClr val="F5E6C8"/>
                </a:solidFill>
                <a:latin typeface="Arial" pitchFamily="34" charset="0"/>
                <a:ea typeface="Arial" pitchFamily="34" charset="-122"/>
                <a:cs typeface="Arial" pitchFamily="34" charset="-120"/>
              </a:rPr>
              <a:t>Dark Mode</a:t>
            </a:r>
            <a:endParaRPr lang="en-US" sz="1300" dirty="0"/>
          </a:p>
        </p:txBody>
      </p:sp>
      <p:sp>
        <p:nvSpPr>
          <p:cNvPr id="13" name="Text 8"/>
          <p:cNvSpPr/>
          <p:nvPr/>
        </p:nvSpPr>
        <p:spPr>
          <a:xfrm>
            <a:off x="6172200" y="4389120"/>
            <a:ext cx="2651760" cy="502920"/>
          </a:xfrm>
          <a:prstGeom prst="rect">
            <a:avLst/>
          </a:prstGeom>
          <a:noFill/>
          <a:ln/>
        </p:spPr>
        <p:txBody>
          <a:bodyPr wrap="square" lIns="0" tIns="0" rIns="0" bIns="0" rtlCol="0" anchor="ctr"/>
          <a:lstStyle/>
          <a:p>
            <a:pPr marL="0" indent="0" algn="ctr">
              <a:buNone/>
            </a:pPr>
            <a:r>
              <a:rPr lang="en-US" sz="950" dirty="0">
                <a:solidFill>
                  <a:srgbClr val="9B8E7A"/>
                </a:solidFill>
                <a:latin typeface="Arial" pitchFamily="34" charset="0"/>
                <a:ea typeface="Arial" pitchFamily="34" charset="-122"/>
                <a:cs typeface="Arial" pitchFamily="34" charset="-120"/>
              </a:rPr>
              <a:t>For the dim pub at midnight.</a:t>
            </a:r>
            <a:endParaRPr lang="en-US" sz="950" dirty="0"/>
          </a:p>
          <a:p>
            <a:pPr marL="0" indent="0" algn="ctr">
              <a:buNone/>
            </a:pPr>
            <a:r>
              <a:rPr lang="en-US" sz="950" dirty="0">
                <a:solidFill>
                  <a:srgbClr val="9B8E7A"/>
                </a:solidFill>
                <a:latin typeface="Arial" pitchFamily="34" charset="0"/>
                <a:ea typeface="Arial" pitchFamily="34" charset="-122"/>
                <a:cs typeface="Arial" pitchFamily="34" charset="-120"/>
              </a:rPr>
              <a:t>High contrast, easy on the eyes.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45720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BY THE NUMBERS</a:t>
            </a:r>
            <a:endParaRPr lang="en-US" sz="1200" dirty="0"/>
          </a:p>
        </p:txBody>
      </p:sp>
      <p:sp>
        <p:nvSpPr>
          <p:cNvPr id="3" name="Shape 1"/>
          <p:cNvSpPr/>
          <p:nvPr/>
        </p:nvSpPr>
        <p:spPr>
          <a:xfrm>
            <a:off x="548640" y="2743200"/>
            <a:ext cx="2606040" cy="15544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4" name="Text 2"/>
          <p:cNvSpPr/>
          <p:nvPr/>
        </p:nvSpPr>
        <p:spPr>
          <a:xfrm>
            <a:off x="548640" y="2880360"/>
            <a:ext cx="2606040" cy="594360"/>
          </a:xfrm>
          <a:prstGeom prst="rect">
            <a:avLst/>
          </a:prstGeom>
          <a:noFill/>
          <a:ln/>
        </p:spPr>
        <p:txBody>
          <a:bodyPr wrap="square" lIns="0" tIns="0" rIns="0" bIns="0" rtlCol="0" anchor="ctr"/>
          <a:lstStyle/>
          <a:p>
            <a:pPr marL="0" indent="0" algn="ctr">
              <a:buNone/>
            </a:pPr>
            <a:r>
              <a:rPr lang="en-US" sz="4000" dirty="0">
                <a:solidFill>
                  <a:srgbClr val="D4A017"/>
                </a:solidFill>
                <a:latin typeface="Impact" pitchFamily="34" charset="0"/>
                <a:ea typeface="Impact" pitchFamily="34" charset="-122"/>
                <a:cs typeface="Impact" pitchFamily="34" charset="-120"/>
              </a:rPr>
              <a:t>20+</a:t>
            </a:r>
            <a:endParaRPr lang="en-US" sz="4000" dirty="0"/>
          </a:p>
        </p:txBody>
      </p:sp>
      <p:sp>
        <p:nvSpPr>
          <p:cNvPr id="5" name="Text 3"/>
          <p:cNvSpPr/>
          <p:nvPr/>
        </p:nvSpPr>
        <p:spPr>
          <a:xfrm>
            <a:off x="548640" y="3474720"/>
            <a:ext cx="2606040" cy="274320"/>
          </a:xfrm>
          <a:prstGeom prst="rect">
            <a:avLst/>
          </a:prstGeom>
          <a:noFill/>
          <a:ln/>
        </p:spPr>
        <p:txBody>
          <a:bodyPr wrap="square" lIns="0" tIns="0" rIns="0" bIns="0" rtlCol="0" anchor="ctr"/>
          <a:lstStyle/>
          <a:p>
            <a:pPr marL="0" indent="0" algn="ctr">
              <a:buNone/>
            </a:pPr>
            <a:r>
              <a:rPr lang="en-US" sz="1300" b="1" dirty="0">
                <a:solidFill>
                  <a:srgbClr val="F5E6C8"/>
                </a:solidFill>
                <a:latin typeface="Arial" pitchFamily="34" charset="0"/>
                <a:ea typeface="Arial" pitchFamily="34" charset="-122"/>
                <a:cs typeface="Arial" pitchFamily="34" charset="-120"/>
              </a:rPr>
              <a:t>Database Tables</a:t>
            </a:r>
            <a:endParaRPr lang="en-US" sz="1300" dirty="0"/>
          </a:p>
        </p:txBody>
      </p:sp>
      <p:sp>
        <p:nvSpPr>
          <p:cNvPr id="6" name="Text 4"/>
          <p:cNvSpPr/>
          <p:nvPr/>
        </p:nvSpPr>
        <p:spPr>
          <a:xfrm>
            <a:off x="548640" y="3794760"/>
            <a:ext cx="2606040" cy="365760"/>
          </a:xfrm>
          <a:prstGeom prst="rect">
            <a:avLst/>
          </a:prstGeom>
          <a:noFill/>
          <a:ln/>
        </p:spPr>
        <p:txBody>
          <a:bodyPr wrap="square" lIns="0" tIns="0" rIns="0" bIns="0" rtlCol="0" anchor="ctr"/>
          <a:lstStyle/>
          <a:p>
            <a:pPr marL="0" indent="0" algn="ctr">
              <a:buNone/>
            </a:pPr>
            <a:r>
              <a:rPr lang="en-US" sz="1000" dirty="0">
                <a:solidFill>
                  <a:srgbClr val="9B8E7A"/>
                </a:solidFill>
                <a:latin typeface="Arial" pitchFamily="34" charset="0"/>
                <a:ea typeface="Arial" pitchFamily="34" charset="-122"/>
                <a:cs typeface="Arial" pitchFamily="34" charset="-120"/>
              </a:rPr>
              <a:t>Supabase + RLS</a:t>
            </a:r>
            <a:endParaRPr lang="en-US" sz="1000" dirty="0"/>
          </a:p>
        </p:txBody>
      </p:sp>
      <p:sp>
        <p:nvSpPr>
          <p:cNvPr id="7" name="Shape 5"/>
          <p:cNvSpPr/>
          <p:nvPr/>
        </p:nvSpPr>
        <p:spPr>
          <a:xfrm>
            <a:off x="3383280" y="914400"/>
            <a:ext cx="2606040" cy="15544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8" name="Text 6"/>
          <p:cNvSpPr/>
          <p:nvPr/>
        </p:nvSpPr>
        <p:spPr>
          <a:xfrm>
            <a:off x="3383280" y="1051560"/>
            <a:ext cx="2606040" cy="594360"/>
          </a:xfrm>
          <a:prstGeom prst="rect">
            <a:avLst/>
          </a:prstGeom>
          <a:noFill/>
          <a:ln/>
        </p:spPr>
        <p:txBody>
          <a:bodyPr wrap="square" lIns="0" tIns="0" rIns="0" bIns="0" rtlCol="0" anchor="ctr"/>
          <a:lstStyle/>
          <a:p>
            <a:pPr marL="0" indent="0" algn="ctr">
              <a:buNone/>
            </a:pPr>
            <a:r>
              <a:rPr lang="en-US" sz="4000" dirty="0">
                <a:solidFill>
                  <a:srgbClr val="D4A017"/>
                </a:solidFill>
                <a:latin typeface="Impact" pitchFamily="34" charset="0"/>
              </a:rPr>
              <a:t>18</a:t>
            </a:r>
            <a:endParaRPr lang="en-US" sz="4000" dirty="0"/>
          </a:p>
        </p:txBody>
      </p:sp>
      <p:sp>
        <p:nvSpPr>
          <p:cNvPr id="9" name="Text 7"/>
          <p:cNvSpPr/>
          <p:nvPr/>
        </p:nvSpPr>
        <p:spPr>
          <a:xfrm>
            <a:off x="3383280" y="1645920"/>
            <a:ext cx="2606040" cy="274320"/>
          </a:xfrm>
          <a:prstGeom prst="rect">
            <a:avLst/>
          </a:prstGeom>
          <a:noFill/>
          <a:ln/>
        </p:spPr>
        <p:txBody>
          <a:bodyPr wrap="square" lIns="0" tIns="0" rIns="0" bIns="0" rtlCol="0" anchor="ctr"/>
          <a:lstStyle/>
          <a:p>
            <a:pPr marL="0" indent="0" algn="ctr">
              <a:buNone/>
            </a:pPr>
            <a:r>
              <a:rPr lang="en-US" sz="1300" b="1" dirty="0">
                <a:solidFill>
                  <a:srgbClr val="F5E6C8"/>
                </a:solidFill>
                <a:latin typeface="Arial" pitchFamily="34" charset="0"/>
                <a:ea typeface="Arial" pitchFamily="34" charset="-122"/>
                <a:cs typeface="Arial" pitchFamily="34" charset="-120"/>
              </a:rPr>
              <a:t>Screens</a:t>
            </a:r>
            <a:endParaRPr lang="en-US" sz="1300" dirty="0"/>
          </a:p>
        </p:txBody>
      </p:sp>
      <p:sp>
        <p:nvSpPr>
          <p:cNvPr id="10" name="Text 8"/>
          <p:cNvSpPr/>
          <p:nvPr/>
        </p:nvSpPr>
        <p:spPr>
          <a:xfrm>
            <a:off x="3383280" y="1965960"/>
            <a:ext cx="2606040" cy="365760"/>
          </a:xfrm>
          <a:prstGeom prst="rect">
            <a:avLst/>
          </a:prstGeom>
          <a:noFill/>
          <a:ln/>
        </p:spPr>
        <p:txBody>
          <a:bodyPr wrap="square" lIns="0" tIns="0" rIns="0" bIns="0" rtlCol="0" anchor="ctr"/>
          <a:lstStyle/>
          <a:p>
            <a:pPr marL="0" indent="0" algn="ctr">
              <a:buNone/>
            </a:pPr>
            <a:r>
              <a:rPr lang="en-US" sz="1000" dirty="0">
                <a:solidFill>
                  <a:srgbClr val="9B8E7A"/>
                </a:solidFill>
                <a:latin typeface="Arial" pitchFamily="34" charset="0"/>
                <a:ea typeface="Arial" pitchFamily="34" charset="-122"/>
                <a:cs typeface="Arial" pitchFamily="34" charset="-120"/>
              </a:rPr>
              <a:t>3 themes · 6 drink themes</a:t>
            </a:r>
            <a:endParaRPr lang="en-US" sz="1000" dirty="0"/>
          </a:p>
        </p:txBody>
      </p:sp>
      <p:sp>
        <p:nvSpPr>
          <p:cNvPr id="11" name="Shape 9"/>
          <p:cNvSpPr/>
          <p:nvPr/>
        </p:nvSpPr>
        <p:spPr>
          <a:xfrm>
            <a:off x="6217920" y="914400"/>
            <a:ext cx="2606040" cy="15544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2" name="Text 10"/>
          <p:cNvSpPr/>
          <p:nvPr/>
        </p:nvSpPr>
        <p:spPr>
          <a:xfrm>
            <a:off x="6217920" y="1051560"/>
            <a:ext cx="2606040" cy="594360"/>
          </a:xfrm>
          <a:prstGeom prst="rect">
            <a:avLst/>
          </a:prstGeom>
          <a:noFill/>
          <a:ln/>
        </p:spPr>
        <p:txBody>
          <a:bodyPr wrap="square" lIns="0" tIns="0" rIns="0" bIns="0" rtlCol="0" anchor="ctr"/>
          <a:lstStyle/>
          <a:p>
            <a:pPr marL="0" indent="0" algn="ctr">
              <a:buNone/>
            </a:pPr>
            <a:r>
              <a:rPr lang="en-US" sz="4000" dirty="0">
                <a:solidFill>
                  <a:srgbClr val="D4A017"/>
                </a:solidFill>
                <a:latin typeface="Impact" pitchFamily="34" charset="0"/>
                <a:ea typeface="Impact" pitchFamily="34" charset="-122"/>
                <a:cs typeface="Impact" pitchFamily="34" charset="-120"/>
              </a:rPr>
              <a:t>5</a:t>
            </a:r>
            <a:endParaRPr lang="en-US" sz="4000" dirty="0"/>
          </a:p>
        </p:txBody>
      </p:sp>
      <p:sp>
        <p:nvSpPr>
          <p:cNvPr id="13" name="Text 11"/>
          <p:cNvSpPr/>
          <p:nvPr/>
        </p:nvSpPr>
        <p:spPr>
          <a:xfrm>
            <a:off x="6217920" y="1645920"/>
            <a:ext cx="2606040" cy="274320"/>
          </a:xfrm>
          <a:prstGeom prst="rect">
            <a:avLst/>
          </a:prstGeom>
          <a:noFill/>
          <a:ln/>
        </p:spPr>
        <p:txBody>
          <a:bodyPr wrap="square" lIns="0" tIns="0" rIns="0" bIns="0" rtlCol="0" anchor="ctr"/>
          <a:lstStyle/>
          <a:p>
            <a:pPr marL="0" indent="0" algn="ctr">
              <a:buNone/>
            </a:pPr>
            <a:r>
              <a:rPr lang="en-US" sz="1300" b="1" dirty="0">
                <a:solidFill>
                  <a:srgbClr val="F5E6C8"/>
                </a:solidFill>
                <a:latin typeface="Arial" pitchFamily="34" charset="0"/>
                <a:ea typeface="Arial" pitchFamily="34" charset="-122"/>
                <a:cs typeface="Arial" pitchFamily="34" charset="-120"/>
              </a:rPr>
              <a:t>Bet Types</a:t>
            </a:r>
            <a:endParaRPr lang="en-US" sz="1300" dirty="0"/>
          </a:p>
        </p:txBody>
      </p:sp>
      <p:sp>
        <p:nvSpPr>
          <p:cNvPr id="14" name="Text 12"/>
          <p:cNvSpPr/>
          <p:nvPr/>
        </p:nvSpPr>
        <p:spPr>
          <a:xfrm>
            <a:off x="6217920" y="1965960"/>
            <a:ext cx="2606040" cy="365760"/>
          </a:xfrm>
          <a:prstGeom prst="rect">
            <a:avLst/>
          </a:prstGeom>
          <a:noFill/>
          <a:ln/>
        </p:spPr>
        <p:txBody>
          <a:bodyPr wrap="square" lIns="0" tIns="0" rIns="0" bIns="0" rtlCol="0" anchor="ctr"/>
          <a:lstStyle/>
          <a:p>
            <a:pPr marL="0" indent="0" algn="ctr">
              <a:buNone/>
            </a:pPr>
            <a:r>
              <a:rPr lang="en-US" sz="1000" dirty="0">
                <a:solidFill>
                  <a:srgbClr val="9B8E7A"/>
                </a:solidFill>
                <a:latin typeface="Arial" pitchFamily="34" charset="0"/>
                <a:ea typeface="Arial" pitchFamily="34" charset="-122"/>
                <a:cs typeface="Arial" pitchFamily="34" charset="-120"/>
              </a:rPr>
              <a:t>Yes/No, O/U, Multi, 1v1, Beer Bomb</a:t>
            </a:r>
            <a:endParaRPr lang="en-US" sz="1000" dirty="0"/>
          </a:p>
        </p:txBody>
      </p:sp>
      <p:sp>
        <p:nvSpPr>
          <p:cNvPr id="15" name="Shape 13"/>
          <p:cNvSpPr/>
          <p:nvPr/>
        </p:nvSpPr>
        <p:spPr>
          <a:xfrm>
            <a:off x="548640" y="914400"/>
            <a:ext cx="2606040" cy="15544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6" name="Text 14"/>
          <p:cNvSpPr/>
          <p:nvPr/>
        </p:nvSpPr>
        <p:spPr>
          <a:xfrm>
            <a:off x="548640" y="1051560"/>
            <a:ext cx="2606040" cy="594360"/>
          </a:xfrm>
          <a:prstGeom prst="rect">
            <a:avLst/>
          </a:prstGeom>
          <a:noFill/>
          <a:ln/>
        </p:spPr>
        <p:txBody>
          <a:bodyPr wrap="square" lIns="0" tIns="0" rIns="0" bIns="0" rtlCol="0" anchor="ctr"/>
          <a:lstStyle/>
          <a:p>
            <a:pPr marL="0" indent="0" algn="ctr">
              <a:buNone/>
            </a:pPr>
            <a:r>
              <a:rPr lang="en-US" sz="4000" dirty="0">
                <a:solidFill>
                  <a:srgbClr val="D4A017"/>
                </a:solidFill>
                <a:latin typeface="Impact" pitchFamily="34" charset="0"/>
                <a:ea typeface="Impact" pitchFamily="34" charset="-122"/>
                <a:cs typeface="Impact" pitchFamily="34" charset="-120"/>
              </a:rPr>
              <a:t>4</a:t>
            </a:r>
            <a:endParaRPr lang="en-US" sz="4000" dirty="0"/>
          </a:p>
        </p:txBody>
      </p:sp>
      <p:sp>
        <p:nvSpPr>
          <p:cNvPr id="17" name="Text 15"/>
          <p:cNvSpPr/>
          <p:nvPr/>
        </p:nvSpPr>
        <p:spPr>
          <a:xfrm>
            <a:off x="548640" y="1645920"/>
            <a:ext cx="2606040" cy="274320"/>
          </a:xfrm>
          <a:prstGeom prst="rect">
            <a:avLst/>
          </a:prstGeom>
          <a:noFill/>
          <a:ln/>
        </p:spPr>
        <p:txBody>
          <a:bodyPr wrap="square" lIns="0" tIns="0" rIns="0" bIns="0" rtlCol="0" anchor="ctr"/>
          <a:lstStyle/>
          <a:p>
            <a:pPr marL="0" indent="0" algn="ctr">
              <a:buNone/>
            </a:pPr>
            <a:r>
              <a:rPr lang="en-US" sz="1300" b="1" dirty="0">
                <a:solidFill>
                  <a:srgbClr val="F5E6C8"/>
                </a:solidFill>
                <a:latin typeface="Arial" pitchFamily="34" charset="0"/>
                <a:ea typeface="Arial" pitchFamily="34" charset="-122"/>
                <a:cs typeface="Arial" pitchFamily="34" charset="-120"/>
              </a:rPr>
              <a:t>AI Tools</a:t>
            </a:r>
            <a:endParaRPr lang="en-US" sz="1300" dirty="0"/>
          </a:p>
        </p:txBody>
      </p:sp>
      <p:sp>
        <p:nvSpPr>
          <p:cNvPr id="18" name="Text 16"/>
          <p:cNvSpPr/>
          <p:nvPr/>
        </p:nvSpPr>
        <p:spPr>
          <a:xfrm>
            <a:off x="548640" y="1965960"/>
            <a:ext cx="2606040" cy="365760"/>
          </a:xfrm>
          <a:prstGeom prst="rect">
            <a:avLst/>
          </a:prstGeom>
          <a:noFill/>
          <a:ln/>
        </p:spPr>
        <p:txBody>
          <a:bodyPr wrap="square" lIns="0" tIns="0" rIns="0" bIns="0" rtlCol="0" anchor="ctr"/>
          <a:lstStyle/>
          <a:p>
            <a:pPr marL="0" indent="0" algn="ctr">
              <a:buNone/>
            </a:pPr>
            <a:r>
              <a:rPr lang="en-US" sz="1000" dirty="0">
                <a:solidFill>
                  <a:srgbClr val="9B8E7A"/>
                </a:solidFill>
                <a:latin typeface="Arial" pitchFamily="34" charset="0"/>
                <a:ea typeface="Arial" pitchFamily="34" charset="-122"/>
                <a:cs typeface="Arial" pitchFamily="34" charset="-120"/>
              </a:rPr>
              <a:t>v0 · Cursor · Claude · Codex</a:t>
            </a:r>
            <a:endParaRPr lang="en-US" sz="1000" dirty="0"/>
          </a:p>
        </p:txBody>
      </p:sp>
      <p:sp>
        <p:nvSpPr>
          <p:cNvPr id="19" name="Shape 17"/>
          <p:cNvSpPr/>
          <p:nvPr/>
        </p:nvSpPr>
        <p:spPr>
          <a:xfrm>
            <a:off x="3383280" y="2743200"/>
            <a:ext cx="2606040" cy="15544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20" name="Text 18"/>
          <p:cNvSpPr/>
          <p:nvPr/>
        </p:nvSpPr>
        <p:spPr>
          <a:xfrm>
            <a:off x="3383280" y="2880360"/>
            <a:ext cx="2606040" cy="594360"/>
          </a:xfrm>
          <a:prstGeom prst="rect">
            <a:avLst/>
          </a:prstGeom>
          <a:noFill/>
          <a:ln/>
        </p:spPr>
        <p:txBody>
          <a:bodyPr wrap="square" lIns="0" tIns="0" rIns="0" bIns="0" rtlCol="0" anchor="ctr"/>
          <a:lstStyle/>
          <a:p>
            <a:pPr marL="0" indent="0" algn="ctr">
              <a:buNone/>
            </a:pPr>
            <a:r>
              <a:rPr lang="en-US" sz="4000" dirty="0">
                <a:solidFill>
                  <a:srgbClr val="D4A017"/>
                </a:solidFill>
                <a:latin typeface="Impact" pitchFamily="34" charset="0"/>
              </a:rPr>
              <a:t>~3</a:t>
            </a:r>
            <a:endParaRPr lang="en-US" sz="4000" dirty="0"/>
          </a:p>
        </p:txBody>
      </p:sp>
      <p:sp>
        <p:nvSpPr>
          <p:cNvPr id="21" name="Text 19"/>
          <p:cNvSpPr/>
          <p:nvPr/>
        </p:nvSpPr>
        <p:spPr>
          <a:xfrm>
            <a:off x="3383280" y="3474720"/>
            <a:ext cx="2606040" cy="274320"/>
          </a:xfrm>
          <a:prstGeom prst="rect">
            <a:avLst/>
          </a:prstGeom>
          <a:noFill/>
          <a:ln/>
        </p:spPr>
        <p:txBody>
          <a:bodyPr wrap="square" lIns="0" tIns="0" rIns="0" bIns="0" rtlCol="0" anchor="ctr"/>
          <a:lstStyle/>
          <a:p>
            <a:pPr marL="0" indent="0" algn="ctr">
              <a:buNone/>
            </a:pPr>
            <a:r>
              <a:rPr lang="en-US" sz="1300" b="1" dirty="0">
                <a:solidFill>
                  <a:srgbClr val="F5E6C8"/>
                </a:solidFill>
                <a:latin typeface="Arial" pitchFamily="34" charset="0"/>
                <a:ea typeface="Arial" pitchFamily="34" charset="-122"/>
                <a:cs typeface="Arial" pitchFamily="34" charset="-120"/>
              </a:rPr>
              <a:t>Hours of Sleep</a:t>
            </a:r>
            <a:endParaRPr lang="en-US" sz="1300" dirty="0"/>
          </a:p>
        </p:txBody>
      </p:sp>
      <p:sp>
        <p:nvSpPr>
          <p:cNvPr id="22" name="Text 20"/>
          <p:cNvSpPr/>
          <p:nvPr/>
        </p:nvSpPr>
        <p:spPr>
          <a:xfrm>
            <a:off x="3383280" y="3794760"/>
            <a:ext cx="2606040" cy="365760"/>
          </a:xfrm>
          <a:prstGeom prst="rect">
            <a:avLst/>
          </a:prstGeom>
          <a:noFill/>
          <a:ln/>
        </p:spPr>
        <p:txBody>
          <a:bodyPr wrap="square" lIns="0" tIns="0" rIns="0" bIns="0" rtlCol="0" anchor="ctr"/>
          <a:lstStyle/>
          <a:p>
            <a:pPr marL="0" indent="0" algn="ctr">
              <a:buNone/>
            </a:pPr>
            <a:r>
              <a:rPr lang="en-US" sz="1000" dirty="0">
                <a:solidFill>
                  <a:srgbClr val="9B8E7A"/>
                </a:solidFill>
                <a:latin typeface="Arial" pitchFamily="34" charset="0"/>
                <a:ea typeface="Arial" pitchFamily="34" charset="-122"/>
                <a:cs typeface="Arial" pitchFamily="34" charset="-120"/>
              </a:rPr>
              <a:t>Give or take</a:t>
            </a:r>
            <a:endParaRPr lang="en-US" sz="1000" dirty="0"/>
          </a:p>
        </p:txBody>
      </p:sp>
      <p:sp>
        <p:nvSpPr>
          <p:cNvPr id="23" name="Shape 21"/>
          <p:cNvSpPr/>
          <p:nvPr/>
        </p:nvSpPr>
        <p:spPr>
          <a:xfrm>
            <a:off x="6217920" y="2743200"/>
            <a:ext cx="2606040" cy="155448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24" name="Text 22"/>
          <p:cNvSpPr/>
          <p:nvPr/>
        </p:nvSpPr>
        <p:spPr>
          <a:xfrm>
            <a:off x="6217920" y="2880360"/>
            <a:ext cx="2606040" cy="594360"/>
          </a:xfrm>
          <a:prstGeom prst="rect">
            <a:avLst/>
          </a:prstGeom>
          <a:noFill/>
          <a:ln/>
        </p:spPr>
        <p:txBody>
          <a:bodyPr wrap="square" lIns="0" tIns="0" rIns="0" bIns="0" rtlCol="0" anchor="ctr"/>
          <a:lstStyle/>
          <a:p>
            <a:pPr marL="0" indent="0" algn="ctr">
              <a:buNone/>
            </a:pPr>
            <a:r>
              <a:rPr lang="en-US" sz="4000" dirty="0">
                <a:solidFill>
                  <a:srgbClr val="D4A017"/>
                </a:solidFill>
                <a:latin typeface="Impact" pitchFamily="34" charset="0"/>
                <a:ea typeface="Impact" pitchFamily="34" charset="-122"/>
                <a:cs typeface="Impact" pitchFamily="34" charset="-120"/>
              </a:rPr>
              <a:t>17.0</a:t>
            </a:r>
            <a:endParaRPr lang="en-US" sz="4000" dirty="0"/>
          </a:p>
        </p:txBody>
      </p:sp>
      <p:sp>
        <p:nvSpPr>
          <p:cNvPr id="25" name="Text 23"/>
          <p:cNvSpPr/>
          <p:nvPr/>
        </p:nvSpPr>
        <p:spPr>
          <a:xfrm>
            <a:off x="6217920" y="3474720"/>
            <a:ext cx="2606040" cy="274320"/>
          </a:xfrm>
          <a:prstGeom prst="rect">
            <a:avLst/>
          </a:prstGeom>
          <a:noFill/>
          <a:ln/>
        </p:spPr>
        <p:txBody>
          <a:bodyPr wrap="square" lIns="0" tIns="0" rIns="0" bIns="0" rtlCol="0" anchor="ctr"/>
          <a:lstStyle/>
          <a:p>
            <a:pPr marL="0" indent="0" algn="ctr">
              <a:buNone/>
            </a:pPr>
            <a:r>
              <a:rPr lang="en-US" sz="1300" b="1" dirty="0">
                <a:solidFill>
                  <a:srgbClr val="F5E6C8"/>
                </a:solidFill>
                <a:latin typeface="Arial" pitchFamily="34" charset="0"/>
                <a:ea typeface="Arial" pitchFamily="34" charset="-122"/>
                <a:cs typeface="Arial" pitchFamily="34" charset="-120"/>
              </a:rPr>
              <a:t>Drinks in the Pool</a:t>
            </a:r>
            <a:endParaRPr lang="en-US" sz="1300" dirty="0"/>
          </a:p>
        </p:txBody>
      </p:sp>
      <p:sp>
        <p:nvSpPr>
          <p:cNvPr id="26" name="Text 24"/>
          <p:cNvSpPr/>
          <p:nvPr/>
        </p:nvSpPr>
        <p:spPr>
          <a:xfrm>
            <a:off x="6217920" y="3794760"/>
            <a:ext cx="2606040" cy="365760"/>
          </a:xfrm>
          <a:prstGeom prst="rect">
            <a:avLst/>
          </a:prstGeom>
          <a:noFill/>
          <a:ln/>
        </p:spPr>
        <p:txBody>
          <a:bodyPr wrap="square" lIns="0" tIns="0" rIns="0" bIns="0" rtlCol="0" anchor="ctr"/>
          <a:lstStyle/>
          <a:p>
            <a:pPr marL="0" indent="0" algn="ctr">
              <a:buNone/>
            </a:pPr>
            <a:r>
              <a:rPr lang="en-US" sz="1000" dirty="0">
                <a:solidFill>
                  <a:srgbClr val="9B8E7A"/>
                </a:solidFill>
                <a:latin typeface="Arial" pitchFamily="34" charset="0"/>
                <a:ea typeface="Arial" pitchFamily="34" charset="-122"/>
                <a:cs typeface="Arial" pitchFamily="34" charset="-120"/>
              </a:rPr>
              <a:t>Saturday night field test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B07"/>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365760"/>
          </a:xfrm>
          <a:prstGeom prst="rect">
            <a:avLst/>
          </a:prstGeom>
          <a:noFill/>
          <a:ln/>
        </p:spPr>
        <p:txBody>
          <a:bodyPr wrap="square" rtlCol="0" anchor="ctr"/>
          <a:lstStyle/>
          <a:p>
            <a:pPr marL="0" indent="0">
              <a:buNone/>
            </a:pPr>
            <a:r>
              <a:rPr lang="en-US" sz="1200" b="1" kern="0" spc="300" dirty="0">
                <a:solidFill>
                  <a:srgbClr val="D4A017"/>
                </a:solidFill>
                <a:latin typeface="Arial" pitchFamily="34" charset="0"/>
                <a:ea typeface="Arial" pitchFamily="34" charset="-122"/>
                <a:cs typeface="Arial" pitchFamily="34" charset="-120"/>
              </a:rPr>
              <a:t>WHAT'S NEXT</a:t>
            </a:r>
            <a:endParaRPr lang="en-US" sz="1200" dirty="0"/>
          </a:p>
        </p:txBody>
      </p:sp>
      <p:sp>
        <p:nvSpPr>
          <p:cNvPr id="3" name="Text 1"/>
          <p:cNvSpPr/>
          <p:nvPr/>
        </p:nvSpPr>
        <p:spPr>
          <a:xfrm>
            <a:off x="548640" y="640080"/>
            <a:ext cx="8046720" cy="594360"/>
          </a:xfrm>
          <a:prstGeom prst="rect">
            <a:avLst/>
          </a:prstGeom>
          <a:noFill/>
          <a:ln/>
        </p:spPr>
        <p:txBody>
          <a:bodyPr wrap="square" rtlCol="0" anchor="ctr"/>
          <a:lstStyle/>
          <a:p>
            <a:pPr marL="0" indent="0">
              <a:buNone/>
            </a:pPr>
            <a:r>
              <a:rPr lang="en-US" sz="2400" i="1" dirty="0">
                <a:solidFill>
                  <a:srgbClr val="F5E6C8"/>
                </a:solidFill>
                <a:latin typeface="Georgia" pitchFamily="34" charset="0"/>
                <a:ea typeface="Georgia" pitchFamily="34" charset="-122"/>
                <a:cs typeface="Georgia" pitchFamily="34" charset="-120"/>
              </a:rPr>
              <a:t>We're keeping this going. This is a product, not a project.</a:t>
            </a:r>
            <a:endParaRPr lang="en-US" sz="2400" dirty="0"/>
          </a:p>
        </p:txBody>
      </p:sp>
      <p:sp>
        <p:nvSpPr>
          <p:cNvPr id="4" name="Shape 2"/>
          <p:cNvSpPr/>
          <p:nvPr/>
        </p:nvSpPr>
        <p:spPr>
          <a:xfrm>
            <a:off x="548640" y="1417320"/>
            <a:ext cx="2651760" cy="288036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5" name="Shape 3"/>
          <p:cNvSpPr/>
          <p:nvPr/>
        </p:nvSpPr>
        <p:spPr>
          <a:xfrm>
            <a:off x="685800" y="1600200"/>
            <a:ext cx="822960" cy="301752"/>
          </a:xfrm>
          <a:prstGeom prst="rect">
            <a:avLst/>
          </a:prstGeom>
          <a:solidFill>
            <a:srgbClr val="D4A017"/>
          </a:solidFill>
          <a:ln/>
        </p:spPr>
        <p:txBody>
          <a:bodyPr/>
          <a:lstStyle/>
          <a:p>
            <a:endParaRPr lang="en-GB"/>
          </a:p>
        </p:txBody>
      </p:sp>
      <p:sp>
        <p:nvSpPr>
          <p:cNvPr id="6" name="Text 4"/>
          <p:cNvSpPr/>
          <p:nvPr/>
        </p:nvSpPr>
        <p:spPr>
          <a:xfrm>
            <a:off x="685800" y="1600200"/>
            <a:ext cx="822960" cy="301752"/>
          </a:xfrm>
          <a:prstGeom prst="rect">
            <a:avLst/>
          </a:prstGeom>
          <a:noFill/>
          <a:ln/>
        </p:spPr>
        <p:txBody>
          <a:bodyPr wrap="square" lIns="0" tIns="0" rIns="0" bIns="0" rtlCol="0" anchor="ctr"/>
          <a:lstStyle/>
          <a:p>
            <a:pPr marL="0" indent="0" algn="ctr">
              <a:buNone/>
            </a:pPr>
            <a:r>
              <a:rPr lang="en-US" sz="1100" b="1" dirty="0">
                <a:solidFill>
                  <a:srgbClr val="0D0B07"/>
                </a:solidFill>
                <a:latin typeface="Arial" pitchFamily="34" charset="0"/>
                <a:ea typeface="Arial" pitchFamily="34" charset="-122"/>
                <a:cs typeface="Arial" pitchFamily="34" charset="-120"/>
              </a:rPr>
              <a:t>NOW</a:t>
            </a:r>
            <a:endParaRPr lang="en-US" sz="1100" dirty="0"/>
          </a:p>
        </p:txBody>
      </p:sp>
      <p:sp>
        <p:nvSpPr>
          <p:cNvPr id="7" name="Text 5"/>
          <p:cNvSpPr/>
          <p:nvPr/>
        </p:nvSpPr>
        <p:spPr>
          <a:xfrm>
            <a:off x="685800" y="2057400"/>
            <a:ext cx="2377440" cy="320040"/>
          </a:xfrm>
          <a:prstGeom prst="rect">
            <a:avLst/>
          </a:prstGeom>
          <a:noFill/>
          <a:ln/>
        </p:spPr>
        <p:txBody>
          <a:bodyPr wrap="square" lIns="0" tIns="0" rIns="0" bIns="0" rtlCol="0" anchor="ctr"/>
          <a:lstStyle/>
          <a:p>
            <a:pPr marL="0" indent="0">
              <a:buNone/>
            </a:pPr>
            <a:r>
              <a:rPr lang="en-US" sz="1400" b="1" dirty="0">
                <a:solidFill>
                  <a:srgbClr val="F5E6C8"/>
                </a:solidFill>
                <a:latin typeface="Arial" pitchFamily="34" charset="0"/>
                <a:ea typeface="Arial" pitchFamily="34" charset="-122"/>
                <a:cs typeface="Arial" pitchFamily="34" charset="-120"/>
              </a:rPr>
              <a:t>What's working</a:t>
            </a:r>
            <a:endParaRPr lang="en-US" sz="1400" dirty="0"/>
          </a:p>
        </p:txBody>
      </p:sp>
      <p:sp>
        <p:nvSpPr>
          <p:cNvPr id="8" name="Text 6"/>
          <p:cNvSpPr/>
          <p:nvPr/>
        </p:nvSpPr>
        <p:spPr>
          <a:xfrm>
            <a:off x="685800" y="2468880"/>
            <a:ext cx="2377440" cy="1645920"/>
          </a:xfrm>
          <a:prstGeom prst="rect">
            <a:avLst/>
          </a:prstGeom>
          <a:noFill/>
          <a:ln/>
        </p:spPr>
        <p:txBody>
          <a:bodyPr wrap="square" lIns="0" tIns="0" rIns="0" bIns="0" rtlCol="0" anchor="ctr"/>
          <a:lstStyle/>
          <a:p>
            <a:pPr marL="0" indent="0">
              <a:buNone/>
            </a:pPr>
            <a:r>
              <a:rPr lang="en-US" sz="1100" dirty="0">
                <a:solidFill>
                  <a:srgbClr val="9B8E7A"/>
                </a:solidFill>
                <a:latin typeface="Arial" pitchFamily="34" charset="0"/>
                <a:ea typeface="Arial" pitchFamily="34" charset="-122"/>
                <a:cs typeface="Arial" pitchFamily="34" charset="-120"/>
              </a:rPr>
              <a:t>Group bets + 1v1 challenges</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Beer Bomb mini-game</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Drink ledger + settlement</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Crew leaderboards</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QR code instant join</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3 display modes</a:t>
            </a:r>
            <a:endParaRPr lang="en-US" sz="1100" dirty="0"/>
          </a:p>
        </p:txBody>
      </p:sp>
      <p:sp>
        <p:nvSpPr>
          <p:cNvPr id="9" name="Shape 7"/>
          <p:cNvSpPr/>
          <p:nvPr/>
        </p:nvSpPr>
        <p:spPr>
          <a:xfrm>
            <a:off x="3383280" y="1417320"/>
            <a:ext cx="2651760" cy="288036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0" name="Shape 8"/>
          <p:cNvSpPr/>
          <p:nvPr/>
        </p:nvSpPr>
        <p:spPr>
          <a:xfrm>
            <a:off x="3520440" y="1600200"/>
            <a:ext cx="822960" cy="301752"/>
          </a:xfrm>
          <a:prstGeom prst="rect">
            <a:avLst/>
          </a:prstGeom>
          <a:solidFill>
            <a:srgbClr val="252019"/>
          </a:solidFill>
          <a:ln/>
        </p:spPr>
        <p:txBody>
          <a:bodyPr/>
          <a:lstStyle/>
          <a:p>
            <a:endParaRPr lang="en-GB"/>
          </a:p>
        </p:txBody>
      </p:sp>
      <p:sp>
        <p:nvSpPr>
          <p:cNvPr id="11" name="Text 9"/>
          <p:cNvSpPr/>
          <p:nvPr/>
        </p:nvSpPr>
        <p:spPr>
          <a:xfrm>
            <a:off x="3520440" y="1600200"/>
            <a:ext cx="822960" cy="301752"/>
          </a:xfrm>
          <a:prstGeom prst="rect">
            <a:avLst/>
          </a:prstGeom>
          <a:noFill/>
          <a:ln/>
        </p:spPr>
        <p:txBody>
          <a:bodyPr wrap="square" lIns="0" tIns="0" rIns="0" bIns="0" rtlCol="0" anchor="ctr"/>
          <a:lstStyle/>
          <a:p>
            <a:pPr marL="0" indent="0" algn="ctr">
              <a:buNone/>
            </a:pPr>
            <a:r>
              <a:rPr lang="en-US" sz="1100" b="1" dirty="0">
                <a:solidFill>
                  <a:srgbClr val="D4A017"/>
                </a:solidFill>
                <a:latin typeface="Arial" pitchFamily="34" charset="0"/>
                <a:ea typeface="Arial" pitchFamily="34" charset="-122"/>
                <a:cs typeface="Arial" pitchFamily="34" charset="-120"/>
              </a:rPr>
              <a:t>NEXT</a:t>
            </a:r>
            <a:endParaRPr lang="en-US" sz="1100" dirty="0"/>
          </a:p>
        </p:txBody>
      </p:sp>
      <p:sp>
        <p:nvSpPr>
          <p:cNvPr id="12" name="Text 10"/>
          <p:cNvSpPr/>
          <p:nvPr/>
        </p:nvSpPr>
        <p:spPr>
          <a:xfrm>
            <a:off x="3520440" y="2057400"/>
            <a:ext cx="2377440" cy="320040"/>
          </a:xfrm>
          <a:prstGeom prst="rect">
            <a:avLst/>
          </a:prstGeom>
          <a:noFill/>
          <a:ln/>
        </p:spPr>
        <p:txBody>
          <a:bodyPr wrap="square" lIns="0" tIns="0" rIns="0" bIns="0" rtlCol="0" anchor="ctr"/>
          <a:lstStyle/>
          <a:p>
            <a:pPr marL="0" indent="0">
              <a:buNone/>
            </a:pPr>
            <a:r>
              <a:rPr lang="en-US" sz="1400" b="1" dirty="0">
                <a:solidFill>
                  <a:srgbClr val="F5E6C8"/>
                </a:solidFill>
                <a:latin typeface="Arial" pitchFamily="34" charset="0"/>
                <a:ea typeface="Arial" pitchFamily="34" charset="-122"/>
                <a:cs typeface="Arial" pitchFamily="34" charset="-120"/>
              </a:rPr>
              <a:t>What we're building</a:t>
            </a:r>
            <a:endParaRPr lang="en-US" sz="1400" dirty="0"/>
          </a:p>
        </p:txBody>
      </p:sp>
      <p:sp>
        <p:nvSpPr>
          <p:cNvPr id="13" name="Text 11"/>
          <p:cNvSpPr/>
          <p:nvPr/>
        </p:nvSpPr>
        <p:spPr>
          <a:xfrm>
            <a:off x="3520440" y="2468880"/>
            <a:ext cx="2377440" cy="1645920"/>
          </a:xfrm>
          <a:prstGeom prst="rect">
            <a:avLst/>
          </a:prstGeom>
          <a:noFill/>
          <a:ln/>
        </p:spPr>
        <p:txBody>
          <a:bodyPr wrap="square" lIns="0" tIns="0" rIns="0" bIns="0" rtlCol="0" anchor="ctr"/>
          <a:lstStyle/>
          <a:p>
            <a:pPr marL="0" indent="0">
              <a:buNone/>
            </a:pPr>
            <a:r>
              <a:rPr lang="en-US" sz="1100" dirty="0">
                <a:solidFill>
                  <a:srgbClr val="9B8E7A"/>
                </a:solidFill>
                <a:latin typeface="Arial" pitchFamily="34" charset="0"/>
                <a:ea typeface="Arial" pitchFamily="34" charset="-122"/>
                <a:cs typeface="Arial" pitchFamily="34" charset="-120"/>
              </a:rPr>
              <a:t>Tournament brackets</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with side betting</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AI commentary + roasts</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More mini-games</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Native iOS + Android</a:t>
            </a:r>
            <a:endParaRPr lang="en-US" sz="1100" dirty="0"/>
          </a:p>
        </p:txBody>
      </p:sp>
      <p:sp>
        <p:nvSpPr>
          <p:cNvPr id="14" name="Shape 12"/>
          <p:cNvSpPr/>
          <p:nvPr/>
        </p:nvSpPr>
        <p:spPr>
          <a:xfrm>
            <a:off x="6217920" y="1417320"/>
            <a:ext cx="2651760" cy="2880360"/>
          </a:xfrm>
          <a:prstGeom prst="rect">
            <a:avLst/>
          </a:prstGeom>
          <a:solidFill>
            <a:srgbClr val="1A1714"/>
          </a:solidFill>
          <a:ln/>
          <a:effectLst>
            <a:outerShdw blurRad="76200" dist="25400" dir="8100000" algn="bl" rotWithShape="0">
              <a:srgbClr val="000000">
                <a:alpha val="25000"/>
              </a:srgbClr>
            </a:outerShdw>
          </a:effectLst>
        </p:spPr>
        <p:txBody>
          <a:bodyPr/>
          <a:lstStyle/>
          <a:p>
            <a:endParaRPr lang="en-GB"/>
          </a:p>
        </p:txBody>
      </p:sp>
      <p:sp>
        <p:nvSpPr>
          <p:cNvPr id="15" name="Shape 13"/>
          <p:cNvSpPr/>
          <p:nvPr/>
        </p:nvSpPr>
        <p:spPr>
          <a:xfrm>
            <a:off x="6355080" y="1600200"/>
            <a:ext cx="822960" cy="301752"/>
          </a:xfrm>
          <a:prstGeom prst="rect">
            <a:avLst/>
          </a:prstGeom>
          <a:solidFill>
            <a:srgbClr val="252019"/>
          </a:solidFill>
          <a:ln/>
        </p:spPr>
        <p:txBody>
          <a:bodyPr/>
          <a:lstStyle/>
          <a:p>
            <a:endParaRPr lang="en-GB"/>
          </a:p>
        </p:txBody>
      </p:sp>
      <p:sp>
        <p:nvSpPr>
          <p:cNvPr id="16" name="Text 14"/>
          <p:cNvSpPr/>
          <p:nvPr/>
        </p:nvSpPr>
        <p:spPr>
          <a:xfrm>
            <a:off x="6355080" y="1600200"/>
            <a:ext cx="822960" cy="301752"/>
          </a:xfrm>
          <a:prstGeom prst="rect">
            <a:avLst/>
          </a:prstGeom>
          <a:noFill/>
          <a:ln/>
        </p:spPr>
        <p:txBody>
          <a:bodyPr wrap="square" lIns="0" tIns="0" rIns="0" bIns="0" rtlCol="0" anchor="ctr"/>
          <a:lstStyle/>
          <a:p>
            <a:pPr marL="0" indent="0" algn="ctr">
              <a:buNone/>
            </a:pPr>
            <a:r>
              <a:rPr lang="en-US" sz="1100" b="1" dirty="0">
                <a:solidFill>
                  <a:srgbClr val="D4A017"/>
                </a:solidFill>
                <a:latin typeface="Arial" pitchFamily="34" charset="0"/>
                <a:ea typeface="Arial" pitchFamily="34" charset="-122"/>
                <a:cs typeface="Arial" pitchFamily="34" charset="-120"/>
              </a:rPr>
              <a:t>LATER</a:t>
            </a:r>
            <a:endParaRPr lang="en-US" sz="1100" dirty="0"/>
          </a:p>
        </p:txBody>
      </p:sp>
      <p:sp>
        <p:nvSpPr>
          <p:cNvPr id="17" name="Text 15"/>
          <p:cNvSpPr/>
          <p:nvPr/>
        </p:nvSpPr>
        <p:spPr>
          <a:xfrm>
            <a:off x="6355080" y="2057400"/>
            <a:ext cx="2377440" cy="320040"/>
          </a:xfrm>
          <a:prstGeom prst="rect">
            <a:avLst/>
          </a:prstGeom>
          <a:noFill/>
          <a:ln/>
        </p:spPr>
        <p:txBody>
          <a:bodyPr wrap="square" lIns="0" tIns="0" rIns="0" bIns="0" rtlCol="0" anchor="ctr"/>
          <a:lstStyle/>
          <a:p>
            <a:pPr marL="0" indent="0">
              <a:buNone/>
            </a:pPr>
            <a:r>
              <a:rPr lang="en-US" sz="1400" b="1" dirty="0">
                <a:solidFill>
                  <a:srgbClr val="F5E6C8"/>
                </a:solidFill>
                <a:latin typeface="Arial" pitchFamily="34" charset="0"/>
                <a:ea typeface="Arial" pitchFamily="34" charset="-122"/>
                <a:cs typeface="Arial" pitchFamily="34" charset="-120"/>
              </a:rPr>
              <a:t>Where it goes</a:t>
            </a:r>
            <a:endParaRPr lang="en-US" sz="1400" dirty="0"/>
          </a:p>
        </p:txBody>
      </p:sp>
      <p:sp>
        <p:nvSpPr>
          <p:cNvPr id="18" name="Text 16"/>
          <p:cNvSpPr/>
          <p:nvPr/>
        </p:nvSpPr>
        <p:spPr>
          <a:xfrm>
            <a:off x="6355080" y="2468880"/>
            <a:ext cx="2377440" cy="1645920"/>
          </a:xfrm>
          <a:prstGeom prst="rect">
            <a:avLst/>
          </a:prstGeom>
          <a:noFill/>
          <a:ln/>
        </p:spPr>
        <p:txBody>
          <a:bodyPr wrap="square" lIns="0" tIns="0" rIns="0" bIns="0" rtlCol="0" anchor="ctr"/>
          <a:lstStyle/>
          <a:p>
            <a:pPr marL="0" indent="0">
              <a:buNone/>
            </a:pPr>
            <a:r>
              <a:rPr lang="en-US" sz="1100" dirty="0">
                <a:solidFill>
                  <a:srgbClr val="9B8E7A"/>
                </a:solidFill>
                <a:latin typeface="Arial" pitchFamily="34" charset="0"/>
                <a:ea typeface="Arial" pitchFamily="34" charset="-122"/>
                <a:cs typeface="Arial" pitchFamily="34" charset="-120"/>
              </a:rPr>
              <a:t>Premium tier (stats, themes)</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Bar + venue partnerships</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Campus ambassador program</a:t>
            </a:r>
            <a:endParaRPr lang="en-US" sz="1100" dirty="0"/>
          </a:p>
          <a:p>
            <a:pPr marL="0" indent="0">
              <a:buNone/>
            </a:pPr>
            <a:r>
              <a:rPr lang="en-US" sz="1100" dirty="0">
                <a:solidFill>
                  <a:srgbClr val="9B8E7A"/>
                </a:solidFill>
                <a:latin typeface="Arial" pitchFamily="34" charset="0"/>
                <a:ea typeface="Arial" pitchFamily="34" charset="-122"/>
                <a:cs typeface="Arial" pitchFamily="34" charset="-120"/>
              </a:rPr>
              <a:t>Sponsored tournaments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B0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017"/>
          </a:solidFill>
          <a:ln/>
        </p:spPr>
        <p:txBody>
          <a:bodyPr/>
          <a:lstStyle/>
          <a:p>
            <a:endParaRPr lang="en-GB"/>
          </a:p>
        </p:txBody>
      </p:sp>
      <p:pic>
        <p:nvPicPr>
          <p:cNvPr id="3" name="Image 0" descr="preencoded.png"/>
          <p:cNvPicPr>
            <a:picLocks noChangeAspect="1"/>
          </p:cNvPicPr>
          <p:nvPr/>
        </p:nvPicPr>
        <p:blipFill>
          <a:blip r:embed="rId3"/>
          <a:stretch>
            <a:fillRect/>
          </a:stretch>
        </p:blipFill>
        <p:spPr>
          <a:xfrm>
            <a:off x="3794760" y="548640"/>
            <a:ext cx="1554480" cy="1554480"/>
          </a:xfrm>
          <a:prstGeom prst="ellipse">
            <a:avLst/>
          </a:prstGeom>
        </p:spPr>
      </p:pic>
      <p:sp>
        <p:nvSpPr>
          <p:cNvPr id="4" name="Text 1"/>
          <p:cNvSpPr/>
          <p:nvPr/>
        </p:nvSpPr>
        <p:spPr>
          <a:xfrm>
            <a:off x="457200" y="2286000"/>
            <a:ext cx="8229600" cy="731520"/>
          </a:xfrm>
          <a:prstGeom prst="rect">
            <a:avLst/>
          </a:prstGeom>
          <a:noFill/>
          <a:ln/>
        </p:spPr>
        <p:txBody>
          <a:bodyPr wrap="square" rtlCol="0" anchor="ctr"/>
          <a:lstStyle/>
          <a:p>
            <a:pPr marL="0" indent="0" algn="ctr">
              <a:buNone/>
            </a:pPr>
            <a:r>
              <a:rPr lang="en-US" sz="5200" kern="0" spc="800" dirty="0">
                <a:solidFill>
                  <a:srgbClr val="D4A017"/>
                </a:solidFill>
                <a:latin typeface="Impact" pitchFamily="34" charset="0"/>
                <a:ea typeface="Impact" pitchFamily="34" charset="-122"/>
                <a:cs typeface="Impact" pitchFamily="34" charset="-120"/>
              </a:rPr>
              <a:t>SETTLEUP</a:t>
            </a:r>
            <a:endParaRPr lang="en-US" sz="5200" dirty="0"/>
          </a:p>
        </p:txBody>
      </p:sp>
      <p:sp>
        <p:nvSpPr>
          <p:cNvPr id="5" name="Text 2"/>
          <p:cNvSpPr/>
          <p:nvPr/>
        </p:nvSpPr>
        <p:spPr>
          <a:xfrm>
            <a:off x="1371600" y="3017520"/>
            <a:ext cx="6400800" cy="457200"/>
          </a:xfrm>
          <a:prstGeom prst="rect">
            <a:avLst/>
          </a:prstGeom>
          <a:noFill/>
          <a:ln/>
        </p:spPr>
        <p:txBody>
          <a:bodyPr wrap="square" rtlCol="0" anchor="ctr"/>
          <a:lstStyle/>
          <a:p>
            <a:pPr marL="0" indent="0" algn="ctr">
              <a:buNone/>
            </a:pPr>
            <a:r>
              <a:rPr lang="en-US" sz="1800" i="1" dirty="0">
                <a:solidFill>
                  <a:srgbClr val="F5E6C8"/>
                </a:solidFill>
                <a:latin typeface="Georgia" pitchFamily="34" charset="0"/>
                <a:ea typeface="Georgia" pitchFamily="34" charset="-122"/>
                <a:cs typeface="Georgia" pitchFamily="34" charset="-120"/>
              </a:rPr>
              <a:t>Competition is everything. We're just giving it a tab.</a:t>
            </a:r>
            <a:endParaRPr lang="en-US" sz="1800" dirty="0"/>
          </a:p>
        </p:txBody>
      </p:sp>
      <p:sp>
        <p:nvSpPr>
          <p:cNvPr id="6" name="Text 3"/>
          <p:cNvSpPr/>
          <p:nvPr/>
        </p:nvSpPr>
        <p:spPr>
          <a:xfrm>
            <a:off x="914400" y="3840480"/>
            <a:ext cx="7315200" cy="365760"/>
          </a:xfrm>
          <a:prstGeom prst="rect">
            <a:avLst/>
          </a:prstGeom>
          <a:noFill/>
          <a:ln/>
        </p:spPr>
        <p:txBody>
          <a:bodyPr wrap="square" rtlCol="0" anchor="ctr"/>
          <a:lstStyle/>
          <a:p>
            <a:pPr marL="0" indent="0" algn="ctr">
              <a:buNone/>
            </a:pPr>
            <a:r>
              <a:rPr lang="en-US" sz="1400" b="1" dirty="0">
                <a:solidFill>
                  <a:srgbClr val="F5E6C8"/>
                </a:solidFill>
                <a:latin typeface="Arial" pitchFamily="34" charset="0"/>
                <a:ea typeface="Arial" pitchFamily="34" charset="-122"/>
                <a:cs typeface="Arial" pitchFamily="34" charset="-120"/>
              </a:rPr>
              <a:t>Hayden Tibbals</a:t>
            </a:r>
            <a:r>
              <a:rPr lang="en-US" sz="1400" dirty="0">
                <a:solidFill>
                  <a:srgbClr val="9B8E7A"/>
                </a:solidFill>
                <a:latin typeface="Arial" pitchFamily="34" charset="0"/>
                <a:ea typeface="Arial" pitchFamily="34" charset="-122"/>
                <a:cs typeface="Arial" pitchFamily="34" charset="-120"/>
              </a:rPr>
              <a:t>   ×   </a:t>
            </a:r>
            <a:r>
              <a:rPr lang="en-US" sz="1400" b="1" dirty="0">
                <a:solidFill>
                  <a:srgbClr val="F5E6C8"/>
                </a:solidFill>
                <a:latin typeface="Arial" pitchFamily="34" charset="0"/>
                <a:ea typeface="Arial" pitchFamily="34" charset="-122"/>
                <a:cs typeface="Arial" pitchFamily="34" charset="-120"/>
              </a:rPr>
              <a:t>Charles Keenen</a:t>
            </a:r>
            <a:endParaRPr lang="en-US" sz="1400" dirty="0"/>
          </a:p>
        </p:txBody>
      </p:sp>
      <p:sp>
        <p:nvSpPr>
          <p:cNvPr id="7" name="Text 4"/>
          <p:cNvSpPr/>
          <p:nvPr/>
        </p:nvSpPr>
        <p:spPr>
          <a:xfrm>
            <a:off x="914400" y="4389120"/>
            <a:ext cx="7315200" cy="365760"/>
          </a:xfrm>
          <a:prstGeom prst="rect">
            <a:avLst/>
          </a:prstGeom>
          <a:noFill/>
          <a:ln/>
        </p:spPr>
        <p:txBody>
          <a:bodyPr wrap="square" rtlCol="0" anchor="ctr"/>
          <a:lstStyle/>
          <a:p>
            <a:pPr marL="0" indent="0" algn="ctr">
              <a:buNone/>
            </a:pPr>
            <a:r>
              <a:rPr lang="en-US" sz="1300" i="1" dirty="0">
                <a:solidFill>
                  <a:srgbClr val="9B8E7A"/>
                </a:solidFill>
                <a:latin typeface="Georgia" pitchFamily="34" charset="0"/>
                <a:ea typeface="Georgia" pitchFamily="34" charset="-122"/>
                <a:cs typeface="Georgia" pitchFamily="34" charset="-120"/>
              </a:rPr>
              <a:t>Now... who owes who a drink?</a:t>
            </a:r>
            <a:endParaRPr lang="en-US" sz="1300" dirty="0"/>
          </a:p>
        </p:txBody>
      </p:sp>
      <p:sp>
        <p:nvSpPr>
          <p:cNvPr id="8" name="Shape 5"/>
          <p:cNvSpPr/>
          <p:nvPr/>
        </p:nvSpPr>
        <p:spPr>
          <a:xfrm>
            <a:off x="0" y="5106924"/>
            <a:ext cx="9144000" cy="36576"/>
          </a:xfrm>
          <a:prstGeom prst="rect">
            <a:avLst/>
          </a:prstGeom>
          <a:solidFill>
            <a:srgbClr val="D4A017"/>
          </a:solidFill>
          <a:ln/>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1545</Words>
  <Application>Microsoft Office PowerPoint</Application>
  <PresentationFormat>On-screen Show (16:9)</PresentationFormat>
  <Paragraphs>193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Georgia</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SettleUp — Hackathon Pitch</dc:title>
  <dc:subject>PptxGenJS Presentation</dc:subject>
  <dc:creator>Hayden Tibbals &amp; Charles Keenan</dc:creator>
  <cp:lastModifiedBy>Charlie Keenen</cp:lastModifiedBy>
  <cp:revision>2</cp:revision>
  <dcterms:created xsi:type="dcterms:W3CDTF">2026-03-22T10:59:29Z</dcterms:created>
  <dcterms:modified xsi:type="dcterms:W3CDTF">2026-03-22T11:40:17Z</dcterms:modified>
</cp:coreProperties>
</file>